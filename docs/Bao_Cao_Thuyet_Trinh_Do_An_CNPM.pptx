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883"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0" cy="685800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097280" y="822960"/>
            <a:ext cx="100584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645920" y="1188720"/>
            <a:ext cx="8961120" cy="2011680"/>
          </a:xfrm>
          <a:prstGeom prst="rect">
            <a:avLst/>
          </a:prstGeom>
          <a:noFill/>
        </p:spPr>
        <p:txBody>
          <a:bodyPr wrap="square">
            <a:spAutoFit/>
          </a:bodyPr>
          <a:lstStyle/>
          <a:p>
            <a:pPr>
              <a:defRPr sz="1300" b="1">
                <a:solidFill>
                  <a:srgbClr val="0D9488"/>
                </a:solidFill>
                <a:latin typeface="Segoe UI"/>
              </a:defRPr>
            </a:pPr>
            <a:r>
              <a:t>BÁO CÁO ĐỒ ÁN MÔN HỌC — CÔNG NGHỆ PHẦN MỀM</a:t>
            </a:r>
          </a:p>
          <a:p>
            <a:pPr>
              <a:spcBef>
                <a:spcPts val="800"/>
              </a:spcBef>
              <a:defRPr sz="2800" b="1">
                <a:solidFill>
                  <a:srgbClr val="0F2C59"/>
                </a:solidFill>
                <a:latin typeface="Segoe UI"/>
              </a:defRPr>
            </a:pPr>
            <a:r>
              <a:t>Hệ Thống Tự Động Thuyết Minh Đa Ngôn Ngữ</a:t>
            </a:r>
          </a:p>
          <a:p>
            <a:pPr>
              <a:spcBef>
                <a:spcPts val="600"/>
              </a:spcBef>
              <a:defRPr sz="1500">
                <a:solidFill>
                  <a:srgbClr val="64748B"/>
                </a:solidFill>
                <a:latin typeface="Segoe UI"/>
              </a:defRPr>
            </a:pPr>
            <a:r>
              <a:t>Địa điểm ứng dụng: Quần thể văn hóa Chùa Linh Ứng</a:t>
            </a:r>
          </a:p>
        </p:txBody>
      </p:sp>
      <p:sp>
        <p:nvSpPr>
          <p:cNvPr id="6" name="Rectangle 5"/>
          <p:cNvSpPr/>
          <p:nvPr/>
        </p:nvSpPr>
        <p:spPr>
          <a:xfrm>
            <a:off x="1645920" y="3383280"/>
            <a:ext cx="8961120" cy="190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3566160"/>
            <a:ext cx="4114800" cy="2103120"/>
          </a:xfrm>
          <a:prstGeom prst="rect">
            <a:avLst/>
          </a:prstGeom>
          <a:noFill/>
        </p:spPr>
        <p:txBody>
          <a:bodyPr wrap="square">
            <a:spAutoFit/>
          </a:bodyPr>
          <a:lstStyle/>
          <a:p>
            <a:pPr>
              <a:defRPr sz="1100" b="1">
                <a:solidFill>
                  <a:srgbClr val="1E3A8A"/>
                </a:solidFill>
                <a:latin typeface="Segoe UI"/>
              </a:defRPr>
            </a:pPr>
            <a:r>
              <a:t>GIẢNG VIÊN HƯỚNG DẪN</a:t>
            </a:r>
          </a:p>
          <a:p>
            <a:pPr>
              <a:defRPr sz="1400" b="1">
                <a:solidFill>
                  <a:srgbClr val="0F172A"/>
                </a:solidFill>
                <a:latin typeface="Segoe UI"/>
              </a:defRPr>
            </a:pPr>
            <a:r>
              <a:t>Thầy Nguyễn Quốc Huy</a:t>
            </a:r>
          </a:p>
          <a:p>
            <a:pPr>
              <a:spcBef>
                <a:spcPts val="1200"/>
              </a:spcBef>
              <a:defRPr sz="1200">
                <a:solidFill>
                  <a:srgbClr val="64748B"/>
                </a:solidFill>
                <a:latin typeface="Segoe UI"/>
              </a:defRPr>
            </a:pPr>
            <a:r>
              <a:t>Thời gian: Tháng 9 Năm 2026</a:t>
            </a:r>
            <a:br/>
            <a:r>
              <a:t>Đơn vị: Trường Đại học Sài Gòn</a:t>
            </a:r>
          </a:p>
        </p:txBody>
      </p:sp>
      <p:sp>
        <p:nvSpPr>
          <p:cNvPr id="8" name="TextBox 7"/>
          <p:cNvSpPr txBox="1"/>
          <p:nvPr/>
        </p:nvSpPr>
        <p:spPr>
          <a:xfrm>
            <a:off x="6217920" y="3566160"/>
            <a:ext cx="4572000" cy="2103120"/>
          </a:xfrm>
          <a:prstGeom prst="rect">
            <a:avLst/>
          </a:prstGeom>
          <a:noFill/>
        </p:spPr>
        <p:txBody>
          <a:bodyPr wrap="square">
            <a:spAutoFit/>
          </a:bodyPr>
          <a:lstStyle/>
          <a:p>
            <a:pPr>
              <a:defRPr sz="1100" b="1">
                <a:solidFill>
                  <a:srgbClr val="1E3A8A"/>
                </a:solidFill>
                <a:latin typeface="Segoe UI"/>
              </a:defRPr>
            </a:pPr>
            <a:r>
              <a:t>NHÓM SINH VIÊN THỰC HIỆN — LỚP DCT124C1</a:t>
            </a:r>
          </a:p>
          <a:p>
            <a:pPr>
              <a:spcBef>
                <a:spcPts val="300"/>
              </a:spcBef>
              <a:defRPr sz="1300">
                <a:solidFill>
                  <a:srgbClr val="0F172A"/>
                </a:solidFill>
                <a:latin typeface="Segoe UI"/>
              </a:defRPr>
            </a:pPr>
            <a:r>
              <a:t>•  Lê Văn Hiếu — MSSV: 3124411091</a:t>
            </a:r>
          </a:p>
          <a:p>
            <a:pPr>
              <a:spcBef>
                <a:spcPts val="300"/>
              </a:spcBef>
              <a:defRPr sz="1300">
                <a:solidFill>
                  <a:srgbClr val="0F172A"/>
                </a:solidFill>
                <a:latin typeface="Segoe UI"/>
              </a:defRPr>
            </a:pPr>
            <a:r>
              <a:t>•  Lê Đức Anh — MSSV: 3124411009</a:t>
            </a:r>
          </a:p>
          <a:p>
            <a:pPr>
              <a:spcBef>
                <a:spcPts val="300"/>
              </a:spcBef>
              <a:defRPr sz="1300">
                <a:solidFill>
                  <a:srgbClr val="0F172A"/>
                </a:solidFill>
                <a:latin typeface="Segoe UI"/>
              </a:defRPr>
            </a:pPr>
            <a:r>
              <a:t>•  Dương Gia Phát — MSSV: 3124411212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Cấu Trúc Bài Báo Cáo</a:t>
            </a:r>
          </a:p>
          <a:p>
            <a:pPr>
              <a:defRPr sz="1200">
                <a:solidFill>
                  <a:srgbClr val="64748B"/>
                </a:solidFill>
                <a:latin typeface="Segoe UI"/>
              </a:defRPr>
            </a:pPr>
            <a:r>
              <a:t>Tập trung trình bày các nội dung đã hoàn thành chuẩn chỉnh trong hồ sơ đồ án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 / 24</a:t>
            </a:r>
          </a:p>
        </p:txBody>
      </p:sp>
      <p:sp>
        <p:nvSpPr>
          <p:cNvPr id="9" name="Rounded Rectangle 8"/>
          <p:cNvSpPr/>
          <p:nvPr/>
        </p:nvSpPr>
        <p:spPr>
          <a:xfrm>
            <a:off x="731520"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28800"/>
            <a:ext cx="914400" cy="457200"/>
          </a:xfrm>
          <a:prstGeom prst="rect">
            <a:avLst/>
          </a:prstGeom>
          <a:noFill/>
        </p:spPr>
        <p:txBody>
          <a:bodyPr wrap="none">
            <a:spAutoFit/>
          </a:bodyPr>
          <a:lstStyle/>
          <a:p>
            <a:pPr>
              <a:defRPr sz="2600" b="1">
                <a:solidFill>
                  <a:srgbClr val="1E3A8A"/>
                </a:solidFill>
                <a:latin typeface="Segoe UI"/>
              </a:defRPr>
            </a:pPr>
            <a:r>
              <a:t>01</a:t>
            </a:r>
          </a:p>
        </p:txBody>
      </p:sp>
      <p:sp>
        <p:nvSpPr>
          <p:cNvPr id="11" name="TextBox 10"/>
          <p:cNvSpPr txBox="1"/>
          <p:nvPr/>
        </p:nvSpPr>
        <p:spPr>
          <a:xfrm>
            <a:off x="914400" y="2377440"/>
            <a:ext cx="2194560" cy="822960"/>
          </a:xfrm>
          <a:prstGeom prst="rect">
            <a:avLst/>
          </a:prstGeom>
          <a:noFill/>
        </p:spPr>
        <p:txBody>
          <a:bodyPr wrap="square">
            <a:spAutoFit/>
          </a:bodyPr>
          <a:lstStyle/>
          <a:p>
            <a:pPr>
              <a:defRPr sz="1300" b="1">
                <a:solidFill>
                  <a:srgbClr val="0F172A"/>
                </a:solidFill>
                <a:latin typeface="Segoe UI"/>
              </a:defRPr>
            </a:pPr>
            <a:r>
              <a:t>Chương 1: Tổng Quan Đề Tài</a:t>
            </a:r>
          </a:p>
        </p:txBody>
      </p:sp>
      <p:sp>
        <p:nvSpPr>
          <p:cNvPr id="12" name="TextBox 11"/>
          <p:cNvSpPr txBox="1"/>
          <p:nvPr/>
        </p:nvSpPr>
        <p:spPr>
          <a:xfrm>
            <a:off x="914400" y="3291840"/>
            <a:ext cx="2194560" cy="1645920"/>
          </a:xfrm>
          <a:prstGeom prst="rect">
            <a:avLst/>
          </a:prstGeom>
          <a:noFill/>
        </p:spPr>
        <p:txBody>
          <a:bodyPr wrap="square">
            <a:spAutoFit/>
          </a:bodyPr>
          <a:lstStyle/>
          <a:p>
            <a:pPr>
              <a:defRPr sz="1100">
                <a:solidFill>
                  <a:srgbClr val="64748B"/>
                </a:solidFill>
                <a:latin typeface="Segoe UI"/>
              </a:defRPr>
            </a:pPr>
            <a:r>
              <a:t>Bối cảnh thực tế Chùa Linh Ứng, rào cản ngôn ngữ, 5 mục tiêu nghiệp vụ, 9 yêu cầu nghiệp vụ cấp cao và phạm vi hệ thống.</a:t>
            </a:r>
          </a:p>
        </p:txBody>
      </p:sp>
      <p:sp>
        <p:nvSpPr>
          <p:cNvPr id="13" name="Rounded Rectangle 12"/>
          <p:cNvSpPr/>
          <p:nvPr/>
        </p:nvSpPr>
        <p:spPr>
          <a:xfrm>
            <a:off x="3456432"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828800"/>
            <a:ext cx="914400" cy="457200"/>
          </a:xfrm>
          <a:prstGeom prst="rect">
            <a:avLst/>
          </a:prstGeom>
          <a:noFill/>
        </p:spPr>
        <p:txBody>
          <a:bodyPr wrap="none">
            <a:spAutoFit/>
          </a:bodyPr>
          <a:lstStyle/>
          <a:p>
            <a:pPr>
              <a:defRPr sz="2600" b="1">
                <a:solidFill>
                  <a:srgbClr val="0D9488"/>
                </a:solidFill>
                <a:latin typeface="Segoe UI"/>
              </a:defRPr>
            </a:pPr>
            <a:r>
              <a:t>02</a:t>
            </a:r>
          </a:p>
        </p:txBody>
      </p:sp>
      <p:sp>
        <p:nvSpPr>
          <p:cNvPr id="15" name="TextBox 14"/>
          <p:cNvSpPr txBox="1"/>
          <p:nvPr/>
        </p:nvSpPr>
        <p:spPr>
          <a:xfrm>
            <a:off x="3639312" y="2377440"/>
            <a:ext cx="2194560" cy="822960"/>
          </a:xfrm>
          <a:prstGeom prst="rect">
            <a:avLst/>
          </a:prstGeom>
          <a:noFill/>
        </p:spPr>
        <p:txBody>
          <a:bodyPr wrap="square">
            <a:spAutoFit/>
          </a:bodyPr>
          <a:lstStyle/>
          <a:p>
            <a:pPr>
              <a:defRPr sz="1300" b="1">
                <a:solidFill>
                  <a:srgbClr val="0F172A"/>
                </a:solidFill>
                <a:latin typeface="Segoe UI"/>
              </a:defRPr>
            </a:pPr>
            <a:r>
              <a:t>Chương 2: Yêu Cầu Sản Phẩm PRD</a:t>
            </a:r>
          </a:p>
        </p:txBody>
      </p:sp>
      <p:sp>
        <p:nvSpPr>
          <p:cNvPr id="16" name="TextBox 15"/>
          <p:cNvSpPr txBox="1"/>
          <p:nvPr/>
        </p:nvSpPr>
        <p:spPr>
          <a:xfrm>
            <a:off x="3639312" y="3291840"/>
            <a:ext cx="2194560" cy="1645920"/>
          </a:xfrm>
          <a:prstGeom prst="rect">
            <a:avLst/>
          </a:prstGeom>
          <a:noFill/>
        </p:spPr>
        <p:txBody>
          <a:bodyPr wrap="square">
            <a:spAutoFit/>
          </a:bodyPr>
          <a:lstStyle/>
          <a:p>
            <a:pPr>
              <a:defRPr sz="1100">
                <a:solidFill>
                  <a:srgbClr val="64748B"/>
                </a:solidFill>
                <a:latin typeface="Segoe UI"/>
              </a:defRPr>
            </a:pPr>
            <a:r>
              <a:t>Tình huống sử dụng, ma trận phân cấp ưu tiên, 8 nhóm User Story kèm tiêu chí nghiệm thu và quy tắc nghiệp vụ.</a:t>
            </a:r>
          </a:p>
        </p:txBody>
      </p:sp>
      <p:sp>
        <p:nvSpPr>
          <p:cNvPr id="17" name="Rounded Rectangle 16"/>
          <p:cNvSpPr/>
          <p:nvPr/>
        </p:nvSpPr>
        <p:spPr>
          <a:xfrm>
            <a:off x="6181344"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64224" y="1828800"/>
            <a:ext cx="914400" cy="457200"/>
          </a:xfrm>
          <a:prstGeom prst="rect">
            <a:avLst/>
          </a:prstGeom>
          <a:noFill/>
        </p:spPr>
        <p:txBody>
          <a:bodyPr wrap="none">
            <a:spAutoFit/>
          </a:bodyPr>
          <a:lstStyle/>
          <a:p>
            <a:pPr>
              <a:defRPr sz="2600" b="1">
                <a:solidFill>
                  <a:srgbClr val="0F2C59"/>
                </a:solidFill>
                <a:latin typeface="Segoe UI"/>
              </a:defRPr>
            </a:pPr>
            <a:r>
              <a:t>03</a:t>
            </a:r>
          </a:p>
        </p:txBody>
      </p:sp>
      <p:sp>
        <p:nvSpPr>
          <p:cNvPr id="19" name="TextBox 18"/>
          <p:cNvSpPr txBox="1"/>
          <p:nvPr/>
        </p:nvSpPr>
        <p:spPr>
          <a:xfrm>
            <a:off x="6364224" y="2377440"/>
            <a:ext cx="2194560" cy="822960"/>
          </a:xfrm>
          <a:prstGeom prst="rect">
            <a:avLst/>
          </a:prstGeom>
          <a:noFill/>
        </p:spPr>
        <p:txBody>
          <a:bodyPr wrap="square">
            <a:spAutoFit/>
          </a:bodyPr>
          <a:lstStyle/>
          <a:p>
            <a:pPr>
              <a:defRPr sz="1300" b="1">
                <a:solidFill>
                  <a:srgbClr val="0F172A"/>
                </a:solidFill>
                <a:latin typeface="Segoe UI"/>
              </a:defRPr>
            </a:pPr>
            <a:r>
              <a:t>Chương 3: Phân Tích Hệ Thống</a:t>
            </a:r>
          </a:p>
        </p:txBody>
      </p:sp>
      <p:sp>
        <p:nvSpPr>
          <p:cNvPr id="20" name="TextBox 19"/>
          <p:cNvSpPr txBox="1"/>
          <p:nvPr/>
        </p:nvSpPr>
        <p:spPr>
          <a:xfrm>
            <a:off x="6364224" y="3291840"/>
            <a:ext cx="2194560" cy="1645920"/>
          </a:xfrm>
          <a:prstGeom prst="rect">
            <a:avLst/>
          </a:prstGeom>
          <a:noFill/>
        </p:spPr>
        <p:txBody>
          <a:bodyPr wrap="square">
            <a:spAutoFit/>
          </a:bodyPr>
          <a:lstStyle/>
          <a:p>
            <a:pPr>
              <a:defRPr sz="1100">
                <a:solidFill>
                  <a:srgbClr val="64748B"/>
                </a:solidFill>
                <a:latin typeface="Segoe UI"/>
              </a:defRPr>
            </a:pPr>
            <a:r>
              <a:t>Tác nhân, ranh giới, mô hình 18 Use Case tổng quát, ma trận truy vết và đặc tả chi tiết các Use Case cốt lõi.</a:t>
            </a:r>
          </a:p>
        </p:txBody>
      </p:sp>
      <p:sp>
        <p:nvSpPr>
          <p:cNvPr id="21" name="Rounded Rectangle 20"/>
          <p:cNvSpPr/>
          <p:nvPr/>
        </p:nvSpPr>
        <p:spPr>
          <a:xfrm>
            <a:off x="8906256" y="1645920"/>
            <a:ext cx="256032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89136" y="1828800"/>
            <a:ext cx="914400" cy="457200"/>
          </a:xfrm>
          <a:prstGeom prst="rect">
            <a:avLst/>
          </a:prstGeom>
          <a:noFill/>
        </p:spPr>
        <p:txBody>
          <a:bodyPr wrap="none">
            <a:spAutoFit/>
          </a:bodyPr>
          <a:lstStyle/>
          <a:p>
            <a:pPr>
              <a:defRPr sz="2600" b="1">
                <a:solidFill>
                  <a:srgbClr val="1E3A8A"/>
                </a:solidFill>
                <a:latin typeface="Segoe UI"/>
              </a:defRPr>
            </a:pPr>
            <a:r>
              <a:t>04</a:t>
            </a:r>
          </a:p>
        </p:txBody>
      </p:sp>
      <p:sp>
        <p:nvSpPr>
          <p:cNvPr id="23" name="TextBox 22"/>
          <p:cNvSpPr txBox="1"/>
          <p:nvPr/>
        </p:nvSpPr>
        <p:spPr>
          <a:xfrm>
            <a:off x="9089136" y="2377440"/>
            <a:ext cx="2194560" cy="822960"/>
          </a:xfrm>
          <a:prstGeom prst="rect">
            <a:avLst/>
          </a:prstGeom>
          <a:noFill/>
        </p:spPr>
        <p:txBody>
          <a:bodyPr wrap="square">
            <a:spAutoFit/>
          </a:bodyPr>
          <a:lstStyle/>
          <a:p>
            <a:pPr>
              <a:defRPr sz="1300" b="1">
                <a:solidFill>
                  <a:srgbClr val="0F172A"/>
                </a:solidFill>
                <a:latin typeface="Segoe UI"/>
              </a:defRPr>
            </a:pPr>
            <a:r>
              <a:t>Chương 4: Thiết Kế Hệ Thống</a:t>
            </a:r>
          </a:p>
        </p:txBody>
      </p:sp>
      <p:sp>
        <p:nvSpPr>
          <p:cNvPr id="24" name="TextBox 23"/>
          <p:cNvSpPr txBox="1"/>
          <p:nvPr/>
        </p:nvSpPr>
        <p:spPr>
          <a:xfrm>
            <a:off x="9089136" y="3291840"/>
            <a:ext cx="2194560" cy="1645920"/>
          </a:xfrm>
          <a:prstGeom prst="rect">
            <a:avLst/>
          </a:prstGeom>
          <a:noFill/>
        </p:spPr>
        <p:txBody>
          <a:bodyPr wrap="square">
            <a:spAutoFit/>
          </a:bodyPr>
          <a:lstStyle/>
          <a:p>
            <a:pPr>
              <a:defRPr sz="1100">
                <a:solidFill>
                  <a:srgbClr val="64748B"/>
                </a:solidFill>
                <a:latin typeface="Segoe UI"/>
              </a:defRPr>
            </a:pPr>
            <a:r>
              <a:t>Kiến trúc tổng thể, mô hình 3 lớp Router-Service-Store, thiết kế thành phần và cơ sở dữ liệu 16 bảng dữ liệu.</a:t>
            </a:r>
          </a:p>
        </p:txBody>
      </p:sp>
      <p:sp>
        <p:nvSpPr>
          <p:cNvPr id="25" name="Rounded Rectangle 24"/>
          <p:cNvSpPr/>
          <p:nvPr/>
        </p:nvSpPr>
        <p:spPr>
          <a:xfrm>
            <a:off x="731520" y="5303520"/>
            <a:ext cx="10728655" cy="8229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5349240"/>
            <a:ext cx="10332720" cy="731520"/>
          </a:xfrm>
          <a:prstGeom prst="rect">
            <a:avLst/>
          </a:prstGeom>
          <a:noFill/>
        </p:spPr>
        <p:txBody>
          <a:bodyPr wrap="square">
            <a:spAutoFit/>
          </a:bodyPr>
          <a:lstStyle/>
          <a:p>
            <a:pPr>
              <a:defRPr sz="1100">
                <a:solidFill>
                  <a:srgbClr val="0F172A"/>
                </a:solidFill>
                <a:latin typeface="Segoe UI"/>
              </a:defRPr>
            </a:pPr>
            <a:r>
              <a:t>Nguyên tắc báo cáo đồ án: Báo cáo trung thực và chuẩn xác theo hiện trạng tài liệu. Bài trình bày tập trung toàn bộ vào các nội dung Phân tích yêu cầu và Thiết kế hệ thống đã được hoàn thiện chuẩn chỉnh ở Chương 1 đến Chương 4; các chương xây dựng và kiểm thử còn lại được trình bày rõ ở phần kế hoạch.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Bối Cảnh Nghiệp Vụ Tại Chùa Linh Ứng</a:t>
            </a:r>
          </a:p>
          <a:p>
            <a:pPr>
              <a:defRPr sz="1200">
                <a:solidFill>
                  <a:srgbClr val="64748B"/>
                </a:solidFill>
                <a:latin typeface="Segoe UI"/>
              </a:defRPr>
            </a:pPr>
            <a:r>
              <a:t>Thực trạng tham quan và các thách thức vận hành cần giải quyết bằng giải pháp phần mềm</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3 / 24</a:t>
            </a:r>
          </a:p>
        </p:txBody>
      </p:sp>
      <p:sp>
        <p:nvSpPr>
          <p:cNvPr id="9" name="Rounded Rectangle 8"/>
          <p:cNvSpPr/>
          <p:nvPr/>
        </p:nvSpPr>
        <p:spPr>
          <a:xfrm>
            <a:off x="731520" y="1645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Vấn Đề 1: Rào Cản Ngôn Ngữ Du Khách</a:t>
            </a:r>
          </a:p>
        </p:txBody>
      </p:sp>
      <p:sp>
        <p:nvSpPr>
          <p:cNvPr id="11" name="TextBox 10"/>
          <p:cNvSpPr txBox="1"/>
          <p:nvPr/>
        </p:nvSpPr>
        <p:spPr>
          <a:xfrm>
            <a:off x="914400" y="2194560"/>
            <a:ext cx="4846320" cy="1371600"/>
          </a:xfrm>
          <a:prstGeom prst="rect">
            <a:avLst/>
          </a:prstGeom>
          <a:noFill/>
        </p:spPr>
        <p:txBody>
          <a:bodyPr wrap="square">
            <a:spAutoFit/>
          </a:bodyPr>
          <a:lstStyle/>
          <a:p>
            <a:pPr>
              <a:defRPr sz="1200">
                <a:solidFill>
                  <a:srgbClr val="0F172A"/>
                </a:solidFill>
                <a:latin typeface="Segoe UI"/>
              </a:defRPr>
            </a:pPr>
            <a:r>
              <a:t>Khách trong nước và quốc tế đến Chùa Linh Ứng gặp khó khăn khi tiếp cận thông tin lịch sử, văn hóa bằng ngôn ngữ mẹ đẻ. Nhu cầu cần hỗ trợ từ 15 ngôn ngữ trở lên bằng cả văn bản và âm thanh giọng đọc chuẩn.</a:t>
            </a:r>
          </a:p>
        </p:txBody>
      </p:sp>
      <p:sp>
        <p:nvSpPr>
          <p:cNvPr id="12" name="Rounded Rectangle 11"/>
          <p:cNvSpPr/>
          <p:nvPr/>
        </p:nvSpPr>
        <p:spPr>
          <a:xfrm>
            <a:off x="6217920" y="1645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Vấn Đề 2: Thuyết Minh Theo Tọa Độ GPS</a:t>
            </a:r>
          </a:p>
        </p:txBody>
      </p:sp>
      <p:sp>
        <p:nvSpPr>
          <p:cNvPr id="14" name="TextBox 13"/>
          <p:cNvSpPr txBox="1"/>
          <p:nvPr/>
        </p:nvSpPr>
        <p:spPr>
          <a:xfrm>
            <a:off x="6400800" y="2194560"/>
            <a:ext cx="4846320" cy="1371600"/>
          </a:xfrm>
          <a:prstGeom prst="rect">
            <a:avLst/>
          </a:prstGeom>
          <a:noFill/>
        </p:spPr>
        <p:txBody>
          <a:bodyPr wrap="square">
            <a:spAutoFit/>
          </a:bodyPr>
          <a:lstStyle/>
          <a:p>
            <a:pPr>
              <a:defRPr sz="1200">
                <a:solidFill>
                  <a:srgbClr val="0F172A"/>
                </a:solidFill>
                <a:latin typeface="Segoe UI"/>
              </a:defRPr>
            </a:pPr>
            <a:r>
              <a:t>Khách tham quan cần nhận biết các điểm di tích ở gần và tự động nghe giới thiệu khi di chuyển vào phạm vi kích hoạt, loại bỏ thao tác tìm kiếm thủ công liên tục trên màn hình điện thoại.</a:t>
            </a:r>
          </a:p>
        </p:txBody>
      </p:sp>
      <p:sp>
        <p:nvSpPr>
          <p:cNvPr id="15" name="Rounded Rectangle 14"/>
          <p:cNvSpPr/>
          <p:nvPr/>
        </p:nvSpPr>
        <p:spPr>
          <a:xfrm>
            <a:off x="731520" y="3931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Vấn Đề 3: Hỏi Đáp Thông Minh Có Căn Cứ</a:t>
            </a:r>
          </a:p>
        </p:txBody>
      </p:sp>
      <p:sp>
        <p:nvSpPr>
          <p:cNvPr id="17" name="TextBox 16"/>
          <p:cNvSpPr txBox="1"/>
          <p:nvPr/>
        </p:nvSpPr>
        <p:spPr>
          <a:xfrm>
            <a:off x="914400" y="4480560"/>
            <a:ext cx="4846320" cy="1371600"/>
          </a:xfrm>
          <a:prstGeom prst="rect">
            <a:avLst/>
          </a:prstGeom>
          <a:noFill/>
        </p:spPr>
        <p:txBody>
          <a:bodyPr wrap="square">
            <a:spAutoFit/>
          </a:bodyPr>
          <a:lstStyle/>
          <a:p>
            <a:pPr>
              <a:defRPr sz="1200">
                <a:solidFill>
                  <a:srgbClr val="0F172A"/>
                </a:solidFill>
                <a:latin typeface="Segoe UI"/>
              </a:defRPr>
            </a:pPr>
            <a:r>
              <a:t>Trong quá trình tham quan, du khách thường xuyên có thắc mắc chuyên sâu. Cần trợ lý trí tuệ nhân tạo giải đáp tức thì dựa trên kho kiến thức được ban quản lý kiểm duyệt, tránh thông tin sai lệch.</a:t>
            </a:r>
          </a:p>
        </p:txBody>
      </p:sp>
      <p:sp>
        <p:nvSpPr>
          <p:cNvPr id="18" name="Rounded Rectangle 17"/>
          <p:cNvSpPr/>
          <p:nvPr/>
        </p:nvSpPr>
        <p:spPr>
          <a:xfrm>
            <a:off x="6217920" y="3931920"/>
            <a:ext cx="52120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Vấn Đề 4: Quản Lý Phiên Và Quyền Truy Cập</a:t>
            </a:r>
          </a:p>
        </p:txBody>
      </p:sp>
      <p:sp>
        <p:nvSpPr>
          <p:cNvPr id="20" name="TextBox 19"/>
          <p:cNvSpPr txBox="1"/>
          <p:nvPr/>
        </p:nvSpPr>
        <p:spPr>
          <a:xfrm>
            <a:off x="6400800" y="4480560"/>
            <a:ext cx="4846320" cy="1371600"/>
          </a:xfrm>
          <a:prstGeom prst="rect">
            <a:avLst/>
          </a:prstGeom>
          <a:noFill/>
        </p:spPr>
        <p:txBody>
          <a:bodyPr wrap="square">
            <a:spAutoFit/>
          </a:bodyPr>
          <a:lstStyle/>
          <a:p>
            <a:pPr>
              <a:defRPr sz="1200">
                <a:solidFill>
                  <a:srgbClr val="0F172A"/>
                </a:solidFill>
                <a:latin typeface="Segoe UI"/>
              </a:defRPr>
            </a:pPr>
            <a:r>
              <a:t>Đơn vị vận hành cần cơ chế thu phí linh hoạt qua mã QR trực tuyến hoặc quầy tiền mặt, cấp quyền truy cập theo thời hạn phiên tham quan mà không bắt buộc du khách phải tải app hay đăng ký tài khoản.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Các Bên Liên Quan Và Mục Tiêu Đề Tài</a:t>
            </a:r>
          </a:p>
          <a:p>
            <a:pPr>
              <a:defRPr sz="1200">
                <a:solidFill>
                  <a:srgbClr val="64748B"/>
                </a:solidFill>
                <a:latin typeface="Segoe UI"/>
              </a:defRPr>
            </a:pPr>
            <a:r>
              <a:t>Xác định vai trò tương tác và 5 mục tiêu cốt lõi của hệ thống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4 / 24</a:t>
            </a:r>
          </a:p>
        </p:txBody>
      </p:sp>
      <p:sp>
        <p:nvSpPr>
          <p:cNvPr id="9" name="Rounded Rectangle 8"/>
          <p:cNvSpPr/>
          <p:nvPr/>
        </p:nvSpPr>
        <p:spPr>
          <a:xfrm>
            <a:off x="731520" y="1645920"/>
            <a:ext cx="38404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3566160" cy="365760"/>
          </a:xfrm>
          <a:prstGeom prst="rect">
            <a:avLst/>
          </a:prstGeom>
          <a:noFill/>
        </p:spPr>
        <p:txBody>
          <a:bodyPr wrap="square">
            <a:spAutoFit/>
          </a:bodyPr>
          <a:lstStyle/>
          <a:p>
            <a:pPr>
              <a:defRPr sz="1300" b="1">
                <a:solidFill>
                  <a:srgbClr val="1E3A8A"/>
                </a:solidFill>
                <a:latin typeface="Segoe UI"/>
              </a:defRPr>
            </a:pPr>
            <a:r>
              <a:t>Các Bên Liên Quan Chính</a:t>
            </a:r>
          </a:p>
        </p:txBody>
      </p:sp>
      <p:sp>
        <p:nvSpPr>
          <p:cNvPr id="11" name="TextBox 10"/>
          <p:cNvSpPr txBox="1"/>
          <p:nvPr/>
        </p:nvSpPr>
        <p:spPr>
          <a:xfrm>
            <a:off x="914400" y="2194560"/>
            <a:ext cx="3474720" cy="3749039"/>
          </a:xfrm>
          <a:prstGeom prst="rect">
            <a:avLst/>
          </a:prstGeom>
          <a:noFill/>
        </p:spPr>
        <p:txBody>
          <a:bodyPr wrap="square">
            <a:spAutoFit/>
          </a:bodyPr>
          <a:lstStyle/>
          <a:p>
            <a:pPr>
              <a:defRPr sz="1200" b="1">
                <a:solidFill>
                  <a:srgbClr val="1E3A8A"/>
                </a:solidFill>
                <a:latin typeface="Segoe UI"/>
              </a:defRPr>
            </a:pPr>
            <a:r>
              <a:t>Khách tham quan</a:t>
            </a:r>
          </a:p>
          <a:p>
            <a:pPr>
              <a:spcAft>
                <a:spcPts val="800"/>
              </a:spcAft>
              <a:defRPr sz="1050">
                <a:solidFill>
                  <a:srgbClr val="0F172A"/>
                </a:solidFill>
                <a:latin typeface="Segoe UI"/>
              </a:defRPr>
            </a:pPr>
            <a:r>
              <a:t>Quét QR, thanh toán nhận phiên vé không cần tài khoản; xem bản đồ, nghe thuyết minh tự động và hỏi đáp chatbot.</a:t>
            </a:r>
          </a:p>
          <a:p>
            <a:pPr>
              <a:defRPr sz="1200" b="1">
                <a:solidFill>
                  <a:srgbClr val="1E3A8A"/>
                </a:solidFill>
                <a:latin typeface="Segoe UI"/>
              </a:defRPr>
            </a:pPr>
            <a:r>
              <a:t>Nhân viên (STAFF)</a:t>
            </a:r>
          </a:p>
          <a:p>
            <a:pPr>
              <a:spcAft>
                <a:spcPts val="800"/>
              </a:spcAft>
              <a:defRPr sz="1050">
                <a:solidFill>
                  <a:srgbClr val="0F172A"/>
                </a:solidFill>
                <a:latin typeface="Segoe UI"/>
              </a:defRPr>
            </a:pPr>
            <a:r>
              <a:t>Đăng nhập nội bộ, xác nhận thanh toán tiền mặt tại quầy, cập nhật nội dung điểm tham quan và quản lý kho kiến thức.</a:t>
            </a:r>
          </a:p>
          <a:p>
            <a:pPr>
              <a:defRPr sz="1200" b="1">
                <a:solidFill>
                  <a:srgbClr val="1E3A8A"/>
                </a:solidFill>
                <a:latin typeface="Segoe UI"/>
              </a:defRPr>
            </a:pPr>
            <a:r>
              <a:t>Quản trị viên (ADMIN)</a:t>
            </a:r>
          </a:p>
          <a:p>
            <a:pPr>
              <a:spcAft>
                <a:spcPts val="800"/>
              </a:spcAft>
              <a:defRPr sz="1050">
                <a:solidFill>
                  <a:srgbClr val="0F172A"/>
                </a:solidFill>
                <a:latin typeface="Segoe UI"/>
              </a:defRPr>
            </a:pPr>
            <a:r>
              <a:t>Quản lý tài khoản nhân viên, xem nhật ký kiểm toán hệ thống và giám sát sức khỏe dịch vụ, số liệu vận hành.</a:t>
            </a:r>
          </a:p>
        </p:txBody>
      </p:sp>
      <p:sp>
        <p:nvSpPr>
          <p:cNvPr id="12" name="Rounded Rectangle 11"/>
          <p:cNvSpPr/>
          <p:nvPr/>
        </p:nvSpPr>
        <p:spPr>
          <a:xfrm>
            <a:off x="4754880" y="1645920"/>
            <a:ext cx="66751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92040" y="1755648"/>
            <a:ext cx="6400800" cy="365760"/>
          </a:xfrm>
          <a:prstGeom prst="rect">
            <a:avLst/>
          </a:prstGeom>
          <a:noFill/>
        </p:spPr>
        <p:txBody>
          <a:bodyPr wrap="square">
            <a:spAutoFit/>
          </a:bodyPr>
          <a:lstStyle/>
          <a:p>
            <a:pPr>
              <a:defRPr sz="1300" b="1">
                <a:solidFill>
                  <a:srgbClr val="1E3A8A"/>
                </a:solidFill>
                <a:latin typeface="Segoe UI"/>
              </a:defRPr>
            </a:pPr>
            <a:r>
              <a:t>5 Mục Tiêu Nghiệp Vụ Cốt Lõi</a:t>
            </a:r>
          </a:p>
        </p:txBody>
      </p:sp>
      <p:sp>
        <p:nvSpPr>
          <p:cNvPr id="14" name="TextBox 13"/>
          <p:cNvSpPr txBox="1"/>
          <p:nvPr/>
        </p:nvSpPr>
        <p:spPr>
          <a:xfrm>
            <a:off x="4937760" y="2194560"/>
            <a:ext cx="6309360" cy="3749039"/>
          </a:xfrm>
          <a:prstGeom prst="rect">
            <a:avLst/>
          </a:prstGeom>
          <a:noFill/>
        </p:spPr>
        <p:txBody>
          <a:bodyPr wrap="square">
            <a:spAutoFit/>
          </a:bodyPr>
          <a:lstStyle/>
          <a:p>
            <a:pPr>
              <a:spcAft>
                <a:spcPts val="600"/>
              </a:spcAft>
              <a:defRPr sz="1100" b="1">
                <a:solidFill>
                  <a:srgbClr val="0D9488"/>
                </a:solidFill>
                <a:latin typeface="Segoe UI"/>
              </a:defRPr>
            </a:pPr>
            <a:r>
              <a:t>•  Hỗ trợ tham quan chủ động: </a:t>
            </a:r>
            <a:r>
              <a:rPr b="0">
                <a:solidFill>
                  <a:srgbClr val="0F172A"/>
                </a:solidFill>
              </a:rPr>
              <a:t>Giúp khách định vị trên bản đồ số, theo dõi các điểm xung quanh và xem nội dung thuyết minh theo lộ trình mong muốn.</a:t>
            </a:r>
          </a:p>
          <a:p>
            <a:pPr>
              <a:spcAft>
                <a:spcPts val="600"/>
              </a:spcAft>
              <a:defRPr sz="1100" b="1">
                <a:solidFill>
                  <a:srgbClr val="0D9488"/>
                </a:solidFill>
                <a:latin typeface="Segoe UI"/>
              </a:defRPr>
            </a:pPr>
            <a:r>
              <a:t>•  Xóa bỏ rào cản ngôn ngữ: </a:t>
            </a:r>
            <a:r>
              <a:rPr b="0">
                <a:solidFill>
                  <a:srgbClr val="0F172A"/>
                </a:solidFill>
              </a:rPr>
              <a:t>Pipeline dịch thuật và chuyển văn bản thành giọng nói chuẩn bị sẵn nội dung cho 15 ngôn ngữ, bao gồm tiếng Việt.</a:t>
            </a:r>
          </a:p>
          <a:p>
            <a:pPr>
              <a:spcAft>
                <a:spcPts val="600"/>
              </a:spcAft>
              <a:defRPr sz="1100" b="1">
                <a:solidFill>
                  <a:srgbClr val="0D9488"/>
                </a:solidFill>
                <a:latin typeface="Segoe UI"/>
              </a:defRPr>
            </a:pPr>
            <a:r>
              <a:t>•  Thuyết minh vị trí chính xác: </a:t>
            </a:r>
            <a:r>
              <a:rPr b="0">
                <a:solidFill>
                  <a:srgbClr val="0F172A"/>
                </a:solidFill>
              </a:rPr>
              <a:t>Tự động phát âm thanh khi vào bán kính 50m của điểm di tích; cơ chế chống phát lặp thông minh với ngưỡng phục hồi 75m.</a:t>
            </a:r>
          </a:p>
          <a:p>
            <a:pPr>
              <a:spcAft>
                <a:spcPts val="600"/>
              </a:spcAft>
              <a:defRPr sz="1100" b="1">
                <a:solidFill>
                  <a:srgbClr val="0D9488"/>
                </a:solidFill>
                <a:latin typeface="Segoe UI"/>
              </a:defRPr>
            </a:pPr>
            <a:r>
              <a:t>•  Hỏi đáp có căn cứ xác thực: </a:t>
            </a:r>
            <a:r>
              <a:rPr b="0">
                <a:solidFill>
                  <a:srgbClr val="0F172A"/>
                </a:solidFill>
              </a:rPr>
              <a:t>Ứng dụng mô hình RAG kết nối kho tài liệu Chùa Linh Ứng, chỉ phản hồi dựa trên kiến thức được duyệt, thông báo rõ khi thiếu thông tin.</a:t>
            </a:r>
          </a:p>
          <a:p>
            <a:pPr>
              <a:spcAft>
                <a:spcPts val="600"/>
              </a:spcAft>
              <a:defRPr sz="1100" b="1">
                <a:solidFill>
                  <a:srgbClr val="0D9488"/>
                </a:solidFill>
                <a:latin typeface="Segoe UI"/>
              </a:defRPr>
            </a:pPr>
            <a:r>
              <a:t>•  Vận hành tập trung và tin cậy: </a:t>
            </a:r>
            <a:r>
              <a:rPr b="0">
                <a:solidFill>
                  <a:srgbClr val="0F172A"/>
                </a:solidFill>
              </a:rPr>
              <a:t>Quản lý phiên vé, phân quyền nghiêm ngặt, ghi nhật ký kiểm toán không thể xóa sửa và giám sát trạng thái hệ thống theo thời gian thực.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Yêu Cầu Nghiệp Vụ Cấp Cao (BR-01 Đến BR-09)</a:t>
            </a:r>
          </a:p>
          <a:p>
            <a:pPr>
              <a:defRPr sz="1200">
                <a:solidFill>
                  <a:srgbClr val="64748B"/>
                </a:solidFill>
                <a:latin typeface="Segoe UI"/>
              </a:defRPr>
            </a:pPr>
            <a:r>
              <a:t>Khung yêu cầu định hình toàn bộ tính năng và tiêu chuẩn nghiệm thu của sản phẩm</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5 / 24</a:t>
            </a:r>
          </a:p>
        </p:txBody>
      </p:sp>
      <p:graphicFrame>
        <p:nvGraphicFramePr>
          <p:cNvPr id="9" name="Table 8"/>
          <p:cNvGraphicFramePr>
            <a:graphicFrameLocks noGrp="1"/>
          </p:cNvGraphicFramePr>
          <p:nvPr/>
        </p:nvGraphicFramePr>
        <p:xfrm>
          <a:off x="731520" y="1645920"/>
          <a:ext cx="10728655" cy="4480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7071055">
                  <a:extLst>
                    <a:ext uri="{9D8B030D-6E8A-4147-A177-3AD203B41FA5}">
                      <a16:colId xmlns:a16="http://schemas.microsoft.com/office/drawing/2014/main" val="20002"/>
                    </a:ext>
                  </a:extLst>
                </a:gridCol>
              </a:tblGrid>
              <a:tr h="448056">
                <a:tc>
                  <a:txBody>
                    <a:bodyPr/>
                    <a:lstStyle/>
                    <a:p>
                      <a:pPr algn="ctr">
                        <a:defRPr sz="1100" b="1">
                          <a:solidFill>
                            <a:srgbClr val="FFFFFF"/>
                          </a:solidFill>
                          <a:latin typeface="Segoe UI"/>
                        </a:defRPr>
                      </a:pPr>
                      <a:r>
                        <a:t>Mã BR</a:t>
                      </a:r>
                    </a:p>
                  </a:txBody>
                  <a:tcPr>
                    <a:solidFill>
                      <a:srgbClr val="0F2C59"/>
                    </a:solidFill>
                  </a:tcPr>
                </a:tc>
                <a:tc>
                  <a:txBody>
                    <a:bodyPr/>
                    <a:lstStyle/>
                    <a:p>
                      <a:pPr algn="l">
                        <a:defRPr sz="1100" b="1">
                          <a:solidFill>
                            <a:srgbClr val="FFFFFF"/>
                          </a:solidFill>
                          <a:latin typeface="Segoe UI"/>
                        </a:defRPr>
                      </a:pPr>
                      <a:r>
                        <a:t>Nhóm Nghiệp Vụ</a:t>
                      </a:r>
                    </a:p>
                  </a:txBody>
                  <a:tcPr>
                    <a:solidFill>
                      <a:srgbClr val="0F2C59"/>
                    </a:solidFill>
                  </a:tcPr>
                </a:tc>
                <a:tc>
                  <a:txBody>
                    <a:bodyPr/>
                    <a:lstStyle/>
                    <a:p>
                      <a:pPr algn="l">
                        <a:defRPr sz="1100" b="1">
                          <a:solidFill>
                            <a:srgbClr val="FFFFFF"/>
                          </a:solidFill>
                          <a:latin typeface="Segoe UI"/>
                        </a:defRPr>
                      </a:pPr>
                      <a:r>
                        <a:t>Nội Dung Yêu Cầu Chi Tiết</a:t>
                      </a:r>
                    </a:p>
                  </a:txBody>
                  <a:tcPr>
                    <a:solidFill>
                      <a:srgbClr val="0F2C59"/>
                    </a:solidFill>
                  </a:tcPr>
                </a:tc>
                <a:extLst>
                  <a:ext uri="{0D108BD9-81ED-4DB2-BD59-A6C34878D82A}">
                    <a16:rowId xmlns:a16="http://schemas.microsoft.com/office/drawing/2014/main" val="10000"/>
                  </a:ext>
                </a:extLst>
              </a:tr>
              <a:tr h="448056">
                <a:tc>
                  <a:txBody>
                    <a:bodyPr/>
                    <a:lstStyle/>
                    <a:p>
                      <a:pPr algn="ctr">
                        <a:defRPr sz="1000" b="1">
                          <a:solidFill>
                            <a:srgbClr val="1E3A8A"/>
                          </a:solidFill>
                          <a:latin typeface="Segoe UI"/>
                        </a:defRPr>
                      </a:pPr>
                      <a:r>
                        <a:t>BR-01</a:t>
                      </a:r>
                    </a:p>
                  </a:txBody>
                  <a:tcPr>
                    <a:solidFill>
                      <a:srgbClr val="FFFFFF"/>
                    </a:solidFill>
                  </a:tcPr>
                </a:tc>
                <a:tc>
                  <a:txBody>
                    <a:bodyPr/>
                    <a:lstStyle/>
                    <a:p>
                      <a:pPr>
                        <a:defRPr sz="1000" b="1">
                          <a:solidFill>
                            <a:srgbClr val="0F172A"/>
                          </a:solidFill>
                          <a:latin typeface="Segoe UI"/>
                        </a:defRPr>
                      </a:pPr>
                      <a:r>
                        <a:t>Truy cập &amp; Thanh toán</a:t>
                      </a:r>
                    </a:p>
                  </a:txBody>
                  <a:tcPr>
                    <a:solidFill>
                      <a:srgbClr val="FFFFFF"/>
                    </a:solidFill>
                  </a:tcPr>
                </a:tc>
                <a:tc>
                  <a:txBody>
                    <a:bodyPr/>
                    <a:lstStyle/>
                    <a:p>
                      <a:pPr>
                        <a:defRPr sz="950">
                          <a:solidFill>
                            <a:srgbClr val="0F172A"/>
                          </a:solidFill>
                          <a:latin typeface="Segoe UI"/>
                        </a:defRPr>
                      </a:pPr>
                      <a:r>
                        <a:t>Quét QR, thanh toán trực tuyến hoặc tiền mặt để nhận quyền truy cập; không yêu cầu đăng ký tài khoản.</a:t>
                      </a:r>
                    </a:p>
                  </a:txBody>
                  <a:tcPr>
                    <a:solidFill>
                      <a:srgbClr val="FFFFFF"/>
                    </a:solidFill>
                  </a:tcPr>
                </a:tc>
                <a:extLst>
                  <a:ext uri="{0D108BD9-81ED-4DB2-BD59-A6C34878D82A}">
                    <a16:rowId xmlns:a16="http://schemas.microsoft.com/office/drawing/2014/main" val="10001"/>
                  </a:ext>
                </a:extLst>
              </a:tr>
              <a:tr h="448056">
                <a:tc>
                  <a:txBody>
                    <a:bodyPr/>
                    <a:lstStyle/>
                    <a:p>
                      <a:pPr algn="ctr">
                        <a:defRPr sz="1000" b="1">
                          <a:solidFill>
                            <a:srgbClr val="1E3A8A"/>
                          </a:solidFill>
                          <a:latin typeface="Segoe UI"/>
                        </a:defRPr>
                      </a:pPr>
                      <a:r>
                        <a:t>BR-02</a:t>
                      </a:r>
                    </a:p>
                  </a:txBody>
                  <a:tcPr>
                    <a:solidFill>
                      <a:srgbClr val="F1F5F9"/>
                    </a:solidFill>
                  </a:tcPr>
                </a:tc>
                <a:tc>
                  <a:txBody>
                    <a:bodyPr/>
                    <a:lstStyle/>
                    <a:p>
                      <a:pPr>
                        <a:defRPr sz="1000" b="1">
                          <a:solidFill>
                            <a:srgbClr val="0F172A"/>
                          </a:solidFill>
                          <a:latin typeface="Segoe UI"/>
                        </a:defRPr>
                      </a:pPr>
                      <a:r>
                        <a:t>Bản đồ &amp; Tọa độ GPS</a:t>
                      </a:r>
                    </a:p>
                  </a:txBody>
                  <a:tcPr>
                    <a:solidFill>
                      <a:srgbClr val="F1F5F9"/>
                    </a:solidFill>
                  </a:tcPr>
                </a:tc>
                <a:tc>
                  <a:txBody>
                    <a:bodyPr/>
                    <a:lstStyle/>
                    <a:p>
                      <a:pPr>
                        <a:defRPr sz="950">
                          <a:solidFill>
                            <a:srgbClr val="0F172A"/>
                          </a:solidFill>
                          <a:latin typeface="Segoe UI"/>
                        </a:defRPr>
                      </a:pPr>
                      <a:r>
                        <a:t>Hiển thị bản đồ số, vị trí hiện tại của khách và danh sách các điểm tham quan lân cận theo khoảng cách.</a:t>
                      </a:r>
                    </a:p>
                  </a:txBody>
                  <a:tcPr>
                    <a:solidFill>
                      <a:srgbClr val="F1F5F9"/>
                    </a:solidFill>
                  </a:tcPr>
                </a:tc>
                <a:extLst>
                  <a:ext uri="{0D108BD9-81ED-4DB2-BD59-A6C34878D82A}">
                    <a16:rowId xmlns:a16="http://schemas.microsoft.com/office/drawing/2014/main" val="10002"/>
                  </a:ext>
                </a:extLst>
              </a:tr>
              <a:tr h="448056">
                <a:tc>
                  <a:txBody>
                    <a:bodyPr/>
                    <a:lstStyle/>
                    <a:p>
                      <a:pPr algn="ctr">
                        <a:defRPr sz="1000" b="1">
                          <a:solidFill>
                            <a:srgbClr val="1E3A8A"/>
                          </a:solidFill>
                          <a:latin typeface="Segoe UI"/>
                        </a:defRPr>
                      </a:pPr>
                      <a:r>
                        <a:t>BR-03</a:t>
                      </a:r>
                    </a:p>
                  </a:txBody>
                  <a:tcPr>
                    <a:solidFill>
                      <a:srgbClr val="FFFFFF"/>
                    </a:solidFill>
                  </a:tcPr>
                </a:tc>
                <a:tc>
                  <a:txBody>
                    <a:bodyPr/>
                    <a:lstStyle/>
                    <a:p>
                      <a:pPr>
                        <a:defRPr sz="1000" b="1">
                          <a:solidFill>
                            <a:srgbClr val="0F172A"/>
                          </a:solidFill>
                          <a:latin typeface="Segoe UI"/>
                        </a:defRPr>
                      </a:pPr>
                      <a:r>
                        <a:t>Thuyết minh tự động</a:t>
                      </a:r>
                    </a:p>
                  </a:txBody>
                  <a:tcPr>
                    <a:solidFill>
                      <a:srgbClr val="FFFFFF"/>
                    </a:solidFill>
                  </a:tcPr>
                </a:tc>
                <a:tc>
                  <a:txBody>
                    <a:bodyPr/>
                    <a:lstStyle/>
                    <a:p>
                      <a:pPr>
                        <a:defRPr sz="950">
                          <a:solidFill>
                            <a:srgbClr val="0F172A"/>
                          </a:solidFill>
                          <a:latin typeface="Segoe UI"/>
                        </a:defRPr>
                      </a:pPr>
                      <a:r>
                        <a:t>Tự động kích hoạt âm thanh khi vào bán kính điểm di tích, chống phát lặp trong cùng một lượt tiếp cận.</a:t>
                      </a:r>
                    </a:p>
                  </a:txBody>
                  <a:tcPr>
                    <a:solidFill>
                      <a:srgbClr val="FFFFFF"/>
                    </a:solidFill>
                  </a:tcPr>
                </a:tc>
                <a:extLst>
                  <a:ext uri="{0D108BD9-81ED-4DB2-BD59-A6C34878D82A}">
                    <a16:rowId xmlns:a16="http://schemas.microsoft.com/office/drawing/2014/main" val="10003"/>
                  </a:ext>
                </a:extLst>
              </a:tr>
              <a:tr h="448056">
                <a:tc>
                  <a:txBody>
                    <a:bodyPr/>
                    <a:lstStyle/>
                    <a:p>
                      <a:pPr algn="ctr">
                        <a:defRPr sz="1000" b="1">
                          <a:solidFill>
                            <a:srgbClr val="1E3A8A"/>
                          </a:solidFill>
                          <a:latin typeface="Segoe UI"/>
                        </a:defRPr>
                      </a:pPr>
                      <a:r>
                        <a:t>BR-04</a:t>
                      </a:r>
                    </a:p>
                  </a:txBody>
                  <a:tcPr>
                    <a:solidFill>
                      <a:srgbClr val="F1F5F9"/>
                    </a:solidFill>
                  </a:tcPr>
                </a:tc>
                <a:tc>
                  <a:txBody>
                    <a:bodyPr/>
                    <a:lstStyle/>
                    <a:p>
                      <a:pPr>
                        <a:defRPr sz="1000" b="1">
                          <a:solidFill>
                            <a:srgbClr val="0F172A"/>
                          </a:solidFill>
                          <a:latin typeface="Segoe UI"/>
                        </a:defRPr>
                      </a:pPr>
                      <a:r>
                        <a:t>Pipeline đa ngôn ngữ</a:t>
                      </a:r>
                    </a:p>
                  </a:txBody>
                  <a:tcPr>
                    <a:solidFill>
                      <a:srgbClr val="F1F5F9"/>
                    </a:solidFill>
                  </a:tcPr>
                </a:tc>
                <a:tc>
                  <a:txBody>
                    <a:bodyPr/>
                    <a:lstStyle/>
                    <a:p>
                      <a:pPr>
                        <a:defRPr sz="950">
                          <a:solidFill>
                            <a:srgbClr val="0F172A"/>
                          </a:solidFill>
                          <a:latin typeface="Segoe UI"/>
                        </a:defRPr>
                      </a:pPr>
                      <a:r>
                        <a:t>Tự động dịch nội dung và tạo trước âm thanh cho 15 ngôn ngữ; hỗ trợ chuyển đổi ngôn ngữ linh hoạt.</a:t>
                      </a:r>
                    </a:p>
                  </a:txBody>
                  <a:tcPr>
                    <a:solidFill>
                      <a:srgbClr val="F1F5F9"/>
                    </a:solidFill>
                  </a:tcPr>
                </a:tc>
                <a:extLst>
                  <a:ext uri="{0D108BD9-81ED-4DB2-BD59-A6C34878D82A}">
                    <a16:rowId xmlns:a16="http://schemas.microsoft.com/office/drawing/2014/main" val="10004"/>
                  </a:ext>
                </a:extLst>
              </a:tr>
              <a:tr h="448056">
                <a:tc>
                  <a:txBody>
                    <a:bodyPr/>
                    <a:lstStyle/>
                    <a:p>
                      <a:pPr algn="ctr">
                        <a:defRPr sz="1000" b="1">
                          <a:solidFill>
                            <a:srgbClr val="1E3A8A"/>
                          </a:solidFill>
                          <a:latin typeface="Segoe UI"/>
                        </a:defRPr>
                      </a:pPr>
                      <a:r>
                        <a:t>BR-05</a:t>
                      </a:r>
                    </a:p>
                  </a:txBody>
                  <a:tcPr>
                    <a:solidFill>
                      <a:srgbClr val="FFFFFF"/>
                    </a:solidFill>
                  </a:tcPr>
                </a:tc>
                <a:tc>
                  <a:txBody>
                    <a:bodyPr/>
                    <a:lstStyle/>
                    <a:p>
                      <a:pPr>
                        <a:defRPr sz="1000" b="1">
                          <a:solidFill>
                            <a:srgbClr val="0F172A"/>
                          </a:solidFill>
                          <a:latin typeface="Segoe UI"/>
                        </a:defRPr>
                      </a:pPr>
                      <a:r>
                        <a:t>Gói dữ liệu độc lập</a:t>
                      </a:r>
                    </a:p>
                  </a:txBody>
                  <a:tcPr>
                    <a:solidFill>
                      <a:srgbClr val="FFFFFF"/>
                    </a:solidFill>
                  </a:tcPr>
                </a:tc>
                <a:tc>
                  <a:txBody>
                    <a:bodyPr/>
                    <a:lstStyle/>
                    <a:p>
                      <a:pPr>
                        <a:defRPr sz="950">
                          <a:solidFill>
                            <a:srgbClr val="0F172A"/>
                          </a:solidFill>
                          <a:latin typeface="Segoe UI"/>
                        </a:defRPr>
                      </a:pPr>
                      <a:r>
                        <a:t>Tải gói dữ liệu đầy đủ một lần; giao diện tự tính toán khoảng cách và hiển thị, không gọi lại API lấy điểm.</a:t>
                      </a:r>
                    </a:p>
                  </a:txBody>
                  <a:tcPr>
                    <a:solidFill>
                      <a:srgbClr val="FFFFFF"/>
                    </a:solidFill>
                  </a:tcPr>
                </a:tc>
                <a:extLst>
                  <a:ext uri="{0D108BD9-81ED-4DB2-BD59-A6C34878D82A}">
                    <a16:rowId xmlns:a16="http://schemas.microsoft.com/office/drawing/2014/main" val="10005"/>
                  </a:ext>
                </a:extLst>
              </a:tr>
              <a:tr h="448056">
                <a:tc>
                  <a:txBody>
                    <a:bodyPr/>
                    <a:lstStyle/>
                    <a:p>
                      <a:pPr algn="ctr">
                        <a:defRPr sz="1000" b="1">
                          <a:solidFill>
                            <a:srgbClr val="1E3A8A"/>
                          </a:solidFill>
                          <a:latin typeface="Segoe UI"/>
                        </a:defRPr>
                      </a:pPr>
                      <a:r>
                        <a:t>BR-06</a:t>
                      </a:r>
                    </a:p>
                  </a:txBody>
                  <a:tcPr>
                    <a:solidFill>
                      <a:srgbClr val="F1F5F9"/>
                    </a:solidFill>
                  </a:tcPr>
                </a:tc>
                <a:tc>
                  <a:txBody>
                    <a:bodyPr/>
                    <a:lstStyle/>
                    <a:p>
                      <a:pPr>
                        <a:defRPr sz="1000" b="1">
                          <a:solidFill>
                            <a:srgbClr val="0F172A"/>
                          </a:solidFill>
                          <a:latin typeface="Segoe UI"/>
                        </a:defRPr>
                      </a:pPr>
                      <a:r>
                        <a:t>Hỏi đáp RAG có căn cứ</a:t>
                      </a:r>
                    </a:p>
                  </a:txBody>
                  <a:tcPr>
                    <a:solidFill>
                      <a:srgbClr val="F1F5F9"/>
                    </a:solidFill>
                  </a:tcPr>
                </a:tc>
                <a:tc>
                  <a:txBody>
                    <a:bodyPr/>
                    <a:lstStyle/>
                    <a:p>
                      <a:pPr>
                        <a:defRPr sz="950">
                          <a:solidFill>
                            <a:srgbClr val="0F172A"/>
                          </a:solidFill>
                          <a:latin typeface="Segoe UI"/>
                        </a:defRPr>
                      </a:pPr>
                      <a:r>
                        <a:t>Trợ lý trí tuệ nhân tạo giải đáp câu hỏi du khách dựa trên kho kiến thức được duyệt; từ chối khi thiếu căn cứ.</a:t>
                      </a:r>
                    </a:p>
                  </a:txBody>
                  <a:tcPr>
                    <a:solidFill>
                      <a:srgbClr val="F1F5F9"/>
                    </a:solidFill>
                  </a:tcPr>
                </a:tc>
                <a:extLst>
                  <a:ext uri="{0D108BD9-81ED-4DB2-BD59-A6C34878D82A}">
                    <a16:rowId xmlns:a16="http://schemas.microsoft.com/office/drawing/2014/main" val="10006"/>
                  </a:ext>
                </a:extLst>
              </a:tr>
              <a:tr h="448056">
                <a:tc>
                  <a:txBody>
                    <a:bodyPr/>
                    <a:lstStyle/>
                    <a:p>
                      <a:pPr algn="ctr">
                        <a:defRPr sz="1000" b="1">
                          <a:solidFill>
                            <a:srgbClr val="1E3A8A"/>
                          </a:solidFill>
                          <a:latin typeface="Segoe UI"/>
                        </a:defRPr>
                      </a:pPr>
                      <a:r>
                        <a:t>BR-07</a:t>
                      </a:r>
                    </a:p>
                  </a:txBody>
                  <a:tcPr>
                    <a:solidFill>
                      <a:srgbClr val="FFFFFF"/>
                    </a:solidFill>
                  </a:tcPr>
                </a:tc>
                <a:tc>
                  <a:txBody>
                    <a:bodyPr/>
                    <a:lstStyle/>
                    <a:p>
                      <a:pPr>
                        <a:defRPr sz="1000" b="1">
                          <a:solidFill>
                            <a:srgbClr val="0F172A"/>
                          </a:solidFill>
                          <a:latin typeface="Segoe UI"/>
                        </a:defRPr>
                      </a:pPr>
                      <a:r>
                        <a:t>Lộ trình tùy chỉnh</a:t>
                      </a:r>
                    </a:p>
                  </a:txBody>
                  <a:tcPr>
                    <a:solidFill>
                      <a:srgbClr val="FFFFFF"/>
                    </a:solidFill>
                  </a:tcPr>
                </a:tc>
                <a:tc>
                  <a:txBody>
                    <a:bodyPr/>
                    <a:lstStyle/>
                    <a:p>
                      <a:pPr>
                        <a:defRPr sz="950">
                          <a:solidFill>
                            <a:srgbClr val="0F172A"/>
                          </a:solidFill>
                          <a:latin typeface="Segoe UI"/>
                        </a:defRPr>
                      </a:pPr>
                      <a:r>
                        <a:t>Cung cấp lộ trình mẫu và cho phép khách tự thêm bớt điểm tham quan, hiển thị hướng di chuyển giữa các điểm.</a:t>
                      </a:r>
                    </a:p>
                  </a:txBody>
                  <a:tcPr>
                    <a:solidFill>
                      <a:srgbClr val="FFFFFF"/>
                    </a:solidFill>
                  </a:tcPr>
                </a:tc>
                <a:extLst>
                  <a:ext uri="{0D108BD9-81ED-4DB2-BD59-A6C34878D82A}">
                    <a16:rowId xmlns:a16="http://schemas.microsoft.com/office/drawing/2014/main" val="10007"/>
                  </a:ext>
                </a:extLst>
              </a:tr>
              <a:tr h="448056">
                <a:tc>
                  <a:txBody>
                    <a:bodyPr/>
                    <a:lstStyle/>
                    <a:p>
                      <a:pPr algn="ctr">
                        <a:defRPr sz="1000" b="1">
                          <a:solidFill>
                            <a:srgbClr val="1E3A8A"/>
                          </a:solidFill>
                          <a:latin typeface="Segoe UI"/>
                        </a:defRPr>
                      </a:pPr>
                      <a:r>
                        <a:t>BR-08</a:t>
                      </a:r>
                    </a:p>
                  </a:txBody>
                  <a:tcPr>
                    <a:solidFill>
                      <a:srgbClr val="F1F5F9"/>
                    </a:solidFill>
                  </a:tcPr>
                </a:tc>
                <a:tc>
                  <a:txBody>
                    <a:bodyPr/>
                    <a:lstStyle/>
                    <a:p>
                      <a:pPr>
                        <a:defRPr sz="1000" b="1">
                          <a:solidFill>
                            <a:srgbClr val="0F172A"/>
                          </a:solidFill>
                          <a:latin typeface="Segoe UI"/>
                        </a:defRPr>
                      </a:pPr>
                      <a:r>
                        <a:t>Quản trị nội bộ &amp; Vé</a:t>
                      </a:r>
                    </a:p>
                  </a:txBody>
                  <a:tcPr>
                    <a:solidFill>
                      <a:srgbClr val="F1F5F9"/>
                    </a:solidFill>
                  </a:tcPr>
                </a:tc>
                <a:tc>
                  <a:txBody>
                    <a:bodyPr/>
                    <a:lstStyle/>
                    <a:p>
                      <a:pPr>
                        <a:defRPr sz="950">
                          <a:solidFill>
                            <a:srgbClr val="0F172A"/>
                          </a:solidFill>
                          <a:latin typeface="Segoe UI"/>
                        </a:defRPr>
                      </a:pPr>
                      <a:r>
                        <a:t>Nhân viên xác nhận thanh toán tiền mặt, cập nhật nội dung; quản trị viên quản lý tài khoản và xem nhật ký.</a:t>
                      </a:r>
                    </a:p>
                  </a:txBody>
                  <a:tcPr>
                    <a:solidFill>
                      <a:srgbClr val="F1F5F9"/>
                    </a:solidFill>
                  </a:tcPr>
                </a:tc>
                <a:extLst>
                  <a:ext uri="{0D108BD9-81ED-4DB2-BD59-A6C34878D82A}">
                    <a16:rowId xmlns:a16="http://schemas.microsoft.com/office/drawing/2014/main" val="10008"/>
                  </a:ext>
                </a:extLst>
              </a:tr>
              <a:tr h="448056">
                <a:tc>
                  <a:txBody>
                    <a:bodyPr/>
                    <a:lstStyle/>
                    <a:p>
                      <a:pPr algn="ctr">
                        <a:defRPr sz="1000" b="1">
                          <a:solidFill>
                            <a:srgbClr val="1E3A8A"/>
                          </a:solidFill>
                          <a:latin typeface="Segoe UI"/>
                        </a:defRPr>
                      </a:pPr>
                      <a:r>
                        <a:t>BR-09</a:t>
                      </a:r>
                    </a:p>
                  </a:txBody>
                  <a:tcPr>
                    <a:solidFill>
                      <a:srgbClr val="FFFFFF"/>
                    </a:solidFill>
                  </a:tcPr>
                </a:tc>
                <a:tc>
                  <a:txBody>
                    <a:bodyPr/>
                    <a:lstStyle/>
                    <a:p>
                      <a:pPr>
                        <a:defRPr sz="1000" b="1">
                          <a:solidFill>
                            <a:srgbClr val="0F172A"/>
                          </a:solidFill>
                          <a:latin typeface="Segoe UI"/>
                        </a:defRPr>
                      </a:pPr>
                      <a:r>
                        <a:t>Giám sát hệ thống</a:t>
                      </a:r>
                    </a:p>
                  </a:txBody>
                  <a:tcPr>
                    <a:solidFill>
                      <a:srgbClr val="FFFFFF"/>
                    </a:solidFill>
                  </a:tcPr>
                </a:tc>
                <a:tc>
                  <a:txBody>
                    <a:bodyPr/>
                    <a:lstStyle/>
                    <a:p>
                      <a:pPr>
                        <a:defRPr sz="950">
                          <a:solidFill>
                            <a:srgbClr val="0F172A"/>
                          </a:solidFill>
                          <a:latin typeface="Segoe UI"/>
                        </a:defRPr>
                      </a:pPr>
                      <a:r>
                        <a:t>Cung cấp bảng theo dõi sức khỏe dịch vụ, thống kê phiên truy cập, doanh thu, ngôn ngữ và câu hỏi hỏi đáp.</a:t>
                      </a:r>
                    </a:p>
                  </a:txBody>
                  <a:tcP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1: TỔNG QUAN</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Phạm Vi Triển Khai Và Ràng Buộc Kỹ Thuật</a:t>
            </a:r>
          </a:p>
          <a:p>
            <a:pPr>
              <a:defRPr sz="1200">
                <a:solidFill>
                  <a:srgbClr val="64748B"/>
                </a:solidFill>
                <a:latin typeface="Segoe UI"/>
              </a:defRPr>
            </a:pPr>
            <a:r>
              <a:t>Quy định ranh giới chức năng và các quyết định công nghệ bắt buộc</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6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3108960" cy="365760"/>
          </a:xfrm>
          <a:prstGeom prst="rect">
            <a:avLst/>
          </a:prstGeom>
          <a:noFill/>
        </p:spPr>
        <p:txBody>
          <a:bodyPr wrap="square">
            <a:spAutoFit/>
          </a:bodyPr>
          <a:lstStyle/>
          <a:p>
            <a:pPr>
              <a:defRPr sz="1300" b="1">
                <a:solidFill>
                  <a:srgbClr val="1E3A8A"/>
                </a:solidFill>
                <a:latin typeface="Segoe UI"/>
              </a:defRPr>
            </a:pPr>
            <a:r>
              <a:t>Chức Năng Trong Phạm Vi</a:t>
            </a:r>
          </a:p>
        </p:txBody>
      </p:sp>
      <p:sp>
        <p:nvSpPr>
          <p:cNvPr id="11" name="TextBox 10"/>
          <p:cNvSpPr txBox="1"/>
          <p:nvPr/>
        </p:nvSpPr>
        <p:spPr>
          <a:xfrm>
            <a:off x="914400" y="2194560"/>
            <a:ext cx="3017520" cy="3749039"/>
          </a:xfrm>
          <a:prstGeom prst="rect">
            <a:avLst/>
          </a:prstGeom>
          <a:noFill/>
        </p:spPr>
        <p:txBody>
          <a:bodyPr wrap="square">
            <a:spAutoFit/>
          </a:bodyPr>
          <a:lstStyle/>
          <a:p>
            <a:pPr>
              <a:spcAft>
                <a:spcPts val="400"/>
              </a:spcAft>
              <a:defRPr sz="1000">
                <a:solidFill>
                  <a:srgbClr val="0F172A"/>
                </a:solidFill>
                <a:latin typeface="Segoe UI"/>
              </a:defRPr>
            </a:pPr>
            <a:r>
              <a:t>•  Ứng dụng web responsive chạy mượt trên trình duyệt di động.</a:t>
            </a:r>
          </a:p>
          <a:p>
            <a:pPr>
              <a:spcAft>
                <a:spcPts val="400"/>
              </a:spcAft>
              <a:defRPr sz="1000">
                <a:solidFill>
                  <a:srgbClr val="0F172A"/>
                </a:solidFill>
                <a:latin typeface="Segoe UI"/>
              </a:defRPr>
            </a:pPr>
            <a:r>
              <a:t>•  Xác thực phiên tham quan qua mã thanh toán tiền mặt và cổng trực tuyến.</a:t>
            </a:r>
          </a:p>
          <a:p>
            <a:pPr>
              <a:spcAft>
                <a:spcPts val="400"/>
              </a:spcAft>
              <a:defRPr sz="1000">
                <a:solidFill>
                  <a:srgbClr val="0F172A"/>
                </a:solidFill>
                <a:latin typeface="Segoe UI"/>
              </a:defRPr>
            </a:pPr>
            <a:r>
              <a:t>•  Bản đồ OpenStreetMap và thư viện Leaflet hiển thị điểm di tích.</a:t>
            </a:r>
          </a:p>
          <a:p>
            <a:pPr>
              <a:spcAft>
                <a:spcPts val="400"/>
              </a:spcAft>
              <a:defRPr sz="1000">
                <a:solidFill>
                  <a:srgbClr val="0F172A"/>
                </a:solidFill>
                <a:latin typeface="Segoe UI"/>
              </a:defRPr>
            </a:pPr>
            <a:r>
              <a:t>•  Thuyết minh tự động theo vị trí GPS và chế độ giả lập tọa độ khi trình diễn.</a:t>
            </a:r>
          </a:p>
          <a:p>
            <a:pPr>
              <a:spcAft>
                <a:spcPts val="400"/>
              </a:spcAft>
              <a:defRPr sz="1000">
                <a:solidFill>
                  <a:srgbClr val="0F172A"/>
                </a:solidFill>
                <a:latin typeface="Segoe UI"/>
              </a:defRPr>
            </a:pPr>
            <a:r>
              <a:t>•  Pipeline dịch và tạo âm thanh chuẩn bị trước dữ liệu đa ngôn ngữ.</a:t>
            </a:r>
          </a:p>
          <a:p>
            <a:pPr>
              <a:spcAft>
                <a:spcPts val="400"/>
              </a:spcAft>
              <a:defRPr sz="1000">
                <a:solidFill>
                  <a:srgbClr val="0F172A"/>
                </a:solidFill>
                <a:latin typeface="Segoe UI"/>
              </a:defRPr>
            </a:pPr>
            <a:r>
              <a:t>•  Trợ lý hỏi đáp RAG với kho dữ liệu di tích Chùa Linh Ứng.</a:t>
            </a:r>
          </a:p>
          <a:p>
            <a:pPr>
              <a:spcAft>
                <a:spcPts val="400"/>
              </a:spcAft>
              <a:defRPr sz="1000">
                <a:solidFill>
                  <a:srgbClr val="0F172A"/>
                </a:solidFill>
                <a:latin typeface="Segoe UI"/>
              </a:defRPr>
            </a:pPr>
            <a:r>
              <a:t>•  Quản trị nội bộ và giao diện giám sát vận hành hệ thống.</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755648"/>
            <a:ext cx="3108960" cy="365760"/>
          </a:xfrm>
          <a:prstGeom prst="rect">
            <a:avLst/>
          </a:prstGeom>
          <a:noFill/>
        </p:spPr>
        <p:txBody>
          <a:bodyPr wrap="square">
            <a:spAutoFit/>
          </a:bodyPr>
          <a:lstStyle/>
          <a:p>
            <a:pPr>
              <a:defRPr sz="1300" b="1">
                <a:solidFill>
                  <a:srgbClr val="1E3A8A"/>
                </a:solidFill>
                <a:latin typeface="Segoe UI"/>
              </a:defRPr>
            </a:pPr>
            <a:r>
              <a:t>Ngoài Phạm Vi Thực Hiện</a:t>
            </a:r>
          </a:p>
        </p:txBody>
      </p:sp>
      <p:sp>
        <p:nvSpPr>
          <p:cNvPr id="14" name="TextBox 13"/>
          <p:cNvSpPr txBox="1"/>
          <p:nvPr/>
        </p:nvSpPr>
        <p:spPr>
          <a:xfrm>
            <a:off x="4572000" y="2194560"/>
            <a:ext cx="3017520" cy="3749039"/>
          </a:xfrm>
          <a:prstGeom prst="rect">
            <a:avLst/>
          </a:prstGeom>
          <a:noFill/>
        </p:spPr>
        <p:txBody>
          <a:bodyPr wrap="square">
            <a:spAutoFit/>
          </a:bodyPr>
          <a:lstStyle/>
          <a:p>
            <a:pPr>
              <a:spcAft>
                <a:spcPts val="600"/>
              </a:spcAft>
              <a:defRPr sz="1000">
                <a:solidFill>
                  <a:srgbClr val="0F172A"/>
                </a:solidFill>
                <a:latin typeface="Segoe UI"/>
              </a:defRPr>
            </a:pPr>
            <a:r>
              <a:t>•  Không xây dựng ứng dụng di động riêng biệt cho iOS hoặc Android.</a:t>
            </a:r>
          </a:p>
          <a:p>
            <a:pPr>
              <a:spcAft>
                <a:spcPts val="600"/>
              </a:spcAft>
              <a:defRPr sz="1000">
                <a:solidFill>
                  <a:srgbClr val="0F172A"/>
                </a:solidFill>
                <a:latin typeface="Segoe UI"/>
              </a:defRPr>
            </a:pPr>
            <a:r>
              <a:t>•  Không hỗ trợ chế độ ứng dụng PWA và hoạt động ngoại tuyến.</a:t>
            </a:r>
          </a:p>
          <a:p>
            <a:pPr>
              <a:spcAft>
                <a:spcPts val="600"/>
              </a:spcAft>
              <a:defRPr sz="1000">
                <a:solidFill>
                  <a:srgbClr val="0F172A"/>
                </a:solidFill>
                <a:latin typeface="Segoe UI"/>
              </a:defRPr>
            </a:pPr>
            <a:r>
              <a:t>•  Không triển khai công nghệ định vị trong nhà bằng Bluetooth hay cảm biến phụ.</a:t>
            </a:r>
          </a:p>
          <a:p>
            <a:pPr>
              <a:spcAft>
                <a:spcPts val="600"/>
              </a:spcAft>
              <a:defRPr sz="1000">
                <a:solidFill>
                  <a:srgbClr val="0F172A"/>
                </a:solidFill>
                <a:latin typeface="Segoe UI"/>
              </a:defRPr>
            </a:pPr>
            <a:r>
              <a:t>•  Không tích hợp chỉ đường đi bộ chi tiết theo mạng lưới đường phố phức tạp.</a:t>
            </a:r>
          </a:p>
          <a:p>
            <a:pPr>
              <a:spcAft>
                <a:spcPts val="600"/>
              </a:spcAft>
              <a:defRPr sz="1000">
                <a:solidFill>
                  <a:srgbClr val="0F172A"/>
                </a:solidFill>
                <a:latin typeface="Segoe UI"/>
              </a:defRPr>
            </a:pPr>
            <a:r>
              <a:t>•  Loại bỏ hoàn toàn các chức năng quản lý chủ quán, thực đơn ăn uống và đánh giá ẩm thực từ các phiên bản cũ.</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80" y="1755648"/>
            <a:ext cx="3108960" cy="365760"/>
          </a:xfrm>
          <a:prstGeom prst="rect">
            <a:avLst/>
          </a:prstGeom>
          <a:noFill/>
        </p:spPr>
        <p:txBody>
          <a:bodyPr wrap="square">
            <a:spAutoFit/>
          </a:bodyPr>
          <a:lstStyle/>
          <a:p>
            <a:pPr>
              <a:defRPr sz="1300" b="1">
                <a:solidFill>
                  <a:srgbClr val="1E3A8A"/>
                </a:solidFill>
                <a:latin typeface="Segoe UI"/>
              </a:defRPr>
            </a:pPr>
            <a:r>
              <a:t>Ràng Buộc Kỹ Thuật Bắt Buộc</a:t>
            </a:r>
          </a:p>
        </p:txBody>
      </p:sp>
      <p:sp>
        <p:nvSpPr>
          <p:cNvPr id="17" name="TextBox 16"/>
          <p:cNvSpPr txBox="1"/>
          <p:nvPr/>
        </p:nvSpPr>
        <p:spPr>
          <a:xfrm>
            <a:off x="8229600" y="2194560"/>
            <a:ext cx="3017520" cy="3749039"/>
          </a:xfrm>
          <a:prstGeom prst="rect">
            <a:avLst/>
          </a:prstGeom>
          <a:noFill/>
        </p:spPr>
        <p:txBody>
          <a:bodyPr wrap="square">
            <a:spAutoFit/>
          </a:bodyPr>
          <a:lstStyle/>
          <a:p>
            <a:pPr>
              <a:spcAft>
                <a:spcPts val="600"/>
              </a:spcAft>
              <a:defRPr sz="1000">
                <a:solidFill>
                  <a:srgbClr val="0F172A"/>
                </a:solidFill>
                <a:latin typeface="Segoe UI"/>
              </a:defRPr>
            </a:pPr>
            <a:r>
              <a:t>•  Môi trường chạy: Node.js 20 và framework Express.</a:t>
            </a:r>
          </a:p>
          <a:p>
            <a:pPr>
              <a:spcAft>
                <a:spcPts val="600"/>
              </a:spcAft>
              <a:defRPr sz="1000">
                <a:solidFill>
                  <a:srgbClr val="0F172A"/>
                </a:solidFill>
                <a:latin typeface="Segoe UI"/>
              </a:defRPr>
            </a:pPr>
            <a:r>
              <a:t>•  Cơ sở dữ liệu: MySQL 8 làm nguồn đối soát chính xác cho thanh toán và phiên.</a:t>
            </a:r>
          </a:p>
          <a:p>
            <a:pPr>
              <a:spcAft>
                <a:spcPts val="600"/>
              </a:spcAft>
              <a:defRPr sz="1000">
                <a:solidFill>
                  <a:srgbClr val="0F172A"/>
                </a:solidFill>
                <a:latin typeface="Segoe UI"/>
              </a:defRPr>
            </a:pPr>
            <a:r>
              <a:t>•  Bộ nhớ đệm: Redis 7 lưu trữ mã ngắn, giới hạn tần suất truy cập và session tạm.</a:t>
            </a:r>
          </a:p>
          <a:p>
            <a:pPr>
              <a:spcAft>
                <a:spcPts val="600"/>
              </a:spcAft>
              <a:defRPr sz="1000">
                <a:solidFill>
                  <a:srgbClr val="0F172A"/>
                </a:solidFill>
                <a:latin typeface="Segoe UI"/>
              </a:defRPr>
            </a:pPr>
            <a:r>
              <a:t>•  Kiến trúc: Bắt buộc tuân thủ nghiêm ngặt 3 lớp Router – Service – Store.</a:t>
            </a:r>
          </a:p>
          <a:p>
            <a:pPr>
              <a:spcAft>
                <a:spcPts val="600"/>
              </a:spcAft>
              <a:defRPr sz="1000">
                <a:solidFill>
                  <a:srgbClr val="0F172A"/>
                </a:solidFill>
                <a:latin typeface="Segoe UI"/>
              </a:defRPr>
            </a:pPr>
            <a:r>
              <a:t>•  Đóng gói &amp; CI/CD: Triển khai Docker container và tự động kiểm thử qua GitHub 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Hành Trình Trải Nghiệm Của Du Khách</a:t>
            </a:r>
          </a:p>
          <a:p>
            <a:pPr>
              <a:defRPr sz="1200">
                <a:solidFill>
                  <a:srgbClr val="64748B"/>
                </a:solidFill>
                <a:latin typeface="Segoe UI"/>
              </a:defRPr>
            </a:pPr>
            <a:r>
              <a:t>Quy trình khép kín từ lúc quét mã QR đến khi tham quan và hỏi đáp tại điểm di tích</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7 / 24</a:t>
            </a:r>
          </a:p>
        </p:txBody>
      </p:sp>
      <p:sp>
        <p:nvSpPr>
          <p:cNvPr id="9" name="Rounded Rectangle 8"/>
          <p:cNvSpPr/>
          <p:nvPr/>
        </p:nvSpPr>
        <p:spPr>
          <a:xfrm>
            <a:off x="731520"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4400"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1</a:t>
            </a:r>
          </a:p>
        </p:txBody>
      </p:sp>
      <p:sp>
        <p:nvSpPr>
          <p:cNvPr id="11" name="TextBox 10"/>
          <p:cNvSpPr txBox="1"/>
          <p:nvPr/>
        </p:nvSpPr>
        <p:spPr>
          <a:xfrm>
            <a:off x="868680"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Quét QR Tại Cổng</a:t>
            </a:r>
          </a:p>
          <a:p>
            <a:pPr>
              <a:defRPr sz="1050">
                <a:solidFill>
                  <a:srgbClr val="64748B"/>
                </a:solidFill>
                <a:latin typeface="Segoe UI"/>
              </a:defRPr>
            </a:pPr>
            <a:r>
              <a:t>Khách quét mã QR tại điểm đón tiếp, mở trang web trên trình duyệt điện thoại mà không cần tải ứng dụng.</a:t>
            </a:r>
          </a:p>
        </p:txBody>
      </p:sp>
      <p:sp>
        <p:nvSpPr>
          <p:cNvPr id="12" name="Rounded Rectangle 11"/>
          <p:cNvSpPr/>
          <p:nvPr/>
        </p:nvSpPr>
        <p:spPr>
          <a:xfrm>
            <a:off x="2907791"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090671"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2</a:t>
            </a:r>
          </a:p>
        </p:txBody>
      </p:sp>
      <p:sp>
        <p:nvSpPr>
          <p:cNvPr id="14" name="TextBox 13"/>
          <p:cNvSpPr txBox="1"/>
          <p:nvPr/>
        </p:nvSpPr>
        <p:spPr>
          <a:xfrm>
            <a:off x="3044951"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Chọn Hình Thức Trả Phí</a:t>
            </a:r>
          </a:p>
          <a:p>
            <a:pPr>
              <a:defRPr sz="1050">
                <a:solidFill>
                  <a:srgbClr val="64748B"/>
                </a:solidFill>
                <a:latin typeface="Segoe UI"/>
              </a:defRPr>
            </a:pPr>
            <a:r>
              <a:t>Chọn thanh toán online qua cổng thanh toán hoặc trả tiền mặt cho nhân viên để nhận mã ngắn đổi vé.</a:t>
            </a:r>
          </a:p>
        </p:txBody>
      </p:sp>
      <p:sp>
        <p:nvSpPr>
          <p:cNvPr id="15" name="Rounded Rectangle 14"/>
          <p:cNvSpPr/>
          <p:nvPr/>
        </p:nvSpPr>
        <p:spPr>
          <a:xfrm>
            <a:off x="5084064"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66944"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3</a:t>
            </a:r>
          </a:p>
        </p:txBody>
      </p:sp>
      <p:sp>
        <p:nvSpPr>
          <p:cNvPr id="17" name="TextBox 16"/>
          <p:cNvSpPr txBox="1"/>
          <p:nvPr/>
        </p:nvSpPr>
        <p:spPr>
          <a:xfrm>
            <a:off x="5221224"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Đổi Token Phiên Vé</a:t>
            </a:r>
          </a:p>
          <a:p>
            <a:pPr>
              <a:defRPr sz="1050">
                <a:solidFill>
                  <a:srgbClr val="64748B"/>
                </a:solidFill>
                <a:latin typeface="Segoe UI"/>
              </a:defRPr>
            </a:pPr>
            <a:r>
              <a:t>Nhập mã đổi quyền; hệ thống cấp token phiên tham quan có hiệu lực 24 giờ, lưu tại bộ nhớ trình duyệt.</a:t>
            </a:r>
          </a:p>
        </p:txBody>
      </p:sp>
      <p:sp>
        <p:nvSpPr>
          <p:cNvPr id="18" name="Rounded Rectangle 17"/>
          <p:cNvSpPr/>
          <p:nvPr/>
        </p:nvSpPr>
        <p:spPr>
          <a:xfrm>
            <a:off x="7260336"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443216"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4</a:t>
            </a:r>
          </a:p>
        </p:txBody>
      </p:sp>
      <p:sp>
        <p:nvSpPr>
          <p:cNvPr id="20" name="TextBox 19"/>
          <p:cNvSpPr txBox="1"/>
          <p:nvPr/>
        </p:nvSpPr>
        <p:spPr>
          <a:xfrm>
            <a:off x="7397496"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Tải Gói Dữ Liệu Ngôn Ngữ</a:t>
            </a:r>
          </a:p>
          <a:p>
            <a:pPr>
              <a:defRPr sz="1050">
                <a:solidFill>
                  <a:srgbClr val="64748B"/>
                </a:solidFill>
                <a:latin typeface="Segoe UI"/>
              </a:defRPr>
            </a:pPr>
            <a:r>
              <a:t>Chọn ngôn ngữ mẹ đẻ trong 15 ngôn ngữ; tải toàn bộ tọa độ, bài viết và lộ trình trong 1 gói dữ liệu duy nhất.</a:t>
            </a:r>
          </a:p>
        </p:txBody>
      </p:sp>
      <p:sp>
        <p:nvSpPr>
          <p:cNvPr id="21" name="Rounded Rectangle 20"/>
          <p:cNvSpPr/>
          <p:nvPr/>
        </p:nvSpPr>
        <p:spPr>
          <a:xfrm>
            <a:off x="9436608" y="1828800"/>
            <a:ext cx="20574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619488" y="2057400"/>
            <a:ext cx="1691640" cy="3657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Bước 5</a:t>
            </a:r>
          </a:p>
        </p:txBody>
      </p:sp>
      <p:sp>
        <p:nvSpPr>
          <p:cNvPr id="23" name="TextBox 22"/>
          <p:cNvSpPr txBox="1"/>
          <p:nvPr/>
        </p:nvSpPr>
        <p:spPr>
          <a:xfrm>
            <a:off x="9573768" y="2560320"/>
            <a:ext cx="1783080" cy="3200400"/>
          </a:xfrm>
          <a:prstGeom prst="rect">
            <a:avLst/>
          </a:prstGeom>
          <a:noFill/>
        </p:spPr>
        <p:txBody>
          <a:bodyPr wrap="square">
            <a:spAutoFit/>
          </a:bodyPr>
          <a:lstStyle/>
          <a:p>
            <a:pPr>
              <a:spcAft>
                <a:spcPts val="800"/>
              </a:spcAft>
              <a:defRPr sz="1250" b="1">
                <a:solidFill>
                  <a:srgbClr val="0F172A"/>
                </a:solidFill>
                <a:latin typeface="Segoe UI"/>
              </a:defRPr>
            </a:pPr>
            <a:r>
              <a:t>Tham Quan &amp; Thuyết Minh</a:t>
            </a:r>
          </a:p>
          <a:p>
            <a:pPr>
              <a:defRPr sz="1050">
                <a:solidFill>
                  <a:srgbClr val="64748B"/>
                </a:solidFill>
                <a:latin typeface="Segoe UI"/>
              </a:defRPr>
            </a:pPr>
            <a:r>
              <a:t>Bật tính năng tham quan; âm thanh tự động phát khi đến gần điểm di tích; đặt câu hỏi cho trợ lý RAG khi cần.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Ma Trận Phân Cấp Ưu Tiên Tính Năng (MoSCoW)</a:t>
            </a:r>
          </a:p>
          <a:p>
            <a:pPr>
              <a:defRPr sz="1200">
                <a:solidFill>
                  <a:srgbClr val="64748B"/>
                </a:solidFill>
                <a:latin typeface="Segoe UI"/>
              </a:defRPr>
            </a:pPr>
            <a:r>
              <a:t>Xác định rõ phạm vi phiên bản cốt lõi và các phần mở rộng phục vụ nghiệm thu</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8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37360"/>
            <a:ext cx="3108960" cy="4206240"/>
          </a:xfrm>
          <a:prstGeom prst="rect">
            <a:avLst/>
          </a:prstGeom>
          <a:noFill/>
        </p:spPr>
        <p:txBody>
          <a:bodyPr wrap="square">
            <a:spAutoFit/>
          </a:bodyPr>
          <a:lstStyle/>
          <a:p>
            <a:pPr>
              <a:defRPr sz="1200" b="1">
                <a:solidFill>
                  <a:srgbClr val="166534"/>
                </a:solidFill>
              </a:defRPr>
            </a:pPr>
            <a:r>
              <a:t>MUST HAVE (BẮT BUỘC CÓ)</a:t>
            </a:r>
          </a:p>
          <a:p>
            <a:pPr>
              <a:spcBef>
                <a:spcPts val="400"/>
              </a:spcBef>
              <a:defRPr sz="1000">
                <a:solidFill>
                  <a:srgbClr val="0F172A"/>
                </a:solidFill>
              </a:defRPr>
            </a:pPr>
            <a:r>
              <a:t>•  Thanh toán trực tuyến giả lập và thanh toán tiền mặt tại quầy vé.</a:t>
            </a:r>
          </a:p>
          <a:p>
            <a:pPr>
              <a:spcBef>
                <a:spcPts val="400"/>
              </a:spcBef>
              <a:defRPr sz="1000">
                <a:solidFill>
                  <a:srgbClr val="0F172A"/>
                </a:solidFill>
              </a:defRPr>
            </a:pPr>
            <a:r>
              <a:t>•  Cấp và kiểm tra hiệu lực phiên tham quan 24 giờ của du khách.</a:t>
            </a:r>
          </a:p>
          <a:p>
            <a:pPr>
              <a:spcBef>
                <a:spcPts val="400"/>
              </a:spcBef>
              <a:defRPr sz="1000">
                <a:solidFill>
                  <a:srgbClr val="0F172A"/>
                </a:solidFill>
              </a:defRPr>
            </a:pPr>
            <a:r>
              <a:t>•  Gói dữ liệu tham quan độc lập tải một lần theo ngôn ngữ.</a:t>
            </a:r>
          </a:p>
          <a:p>
            <a:pPr>
              <a:spcBef>
                <a:spcPts val="400"/>
              </a:spcBef>
              <a:defRPr sz="1000">
                <a:solidFill>
                  <a:srgbClr val="0F172A"/>
                </a:solidFill>
              </a:defRPr>
            </a:pPr>
            <a:r>
              <a:t>•  Bản đồ số, thuyết minh thủ công và tự động theo tọa độ GPS.</a:t>
            </a:r>
          </a:p>
          <a:p>
            <a:pPr>
              <a:spcBef>
                <a:spcPts val="400"/>
              </a:spcBef>
              <a:defRPr sz="1000">
                <a:solidFill>
                  <a:srgbClr val="0F172A"/>
                </a:solidFill>
              </a:defRPr>
            </a:pPr>
            <a:r>
              <a:t>•  Pipeline dịch và tạo âm thanh chuẩn bị sẵn cho đa ngôn ngữ.</a:t>
            </a:r>
          </a:p>
          <a:p>
            <a:pPr>
              <a:spcBef>
                <a:spcPts val="400"/>
              </a:spcBef>
              <a:defRPr sz="1000">
                <a:solidFill>
                  <a:srgbClr val="0F172A"/>
                </a:solidFill>
              </a:defRPr>
            </a:pPr>
            <a:r>
              <a:t>•  Quản trị điểm tham quan, quản lý tài khoản nhân viên và ghi nhật ký.</a:t>
            </a:r>
          </a:p>
          <a:p>
            <a:pPr>
              <a:spcBef>
                <a:spcPts val="400"/>
              </a:spcBef>
              <a:defRPr sz="1000">
                <a:solidFill>
                  <a:srgbClr val="0F172A"/>
                </a:solidFill>
              </a:defRPr>
            </a:pPr>
            <a:r>
              <a:t>•  Kiến trúc Back-end 3 lớp, Docker và kiểm thử tự động CI.</a:t>
            </a:r>
          </a:p>
        </p:txBody>
      </p:sp>
      <p:sp>
        <p:nvSpPr>
          <p:cNvPr id="11" name="Rounded Rectangle 10"/>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1737360"/>
            <a:ext cx="3108960" cy="4206240"/>
          </a:xfrm>
          <a:prstGeom prst="rect">
            <a:avLst/>
          </a:prstGeom>
          <a:noFill/>
        </p:spPr>
        <p:txBody>
          <a:bodyPr wrap="square">
            <a:spAutoFit/>
          </a:bodyPr>
          <a:lstStyle/>
          <a:p>
            <a:pPr>
              <a:defRPr sz="1200" b="1">
                <a:solidFill>
                  <a:srgbClr val="1E3A8A"/>
                </a:solidFill>
              </a:defRPr>
            </a:pPr>
            <a:r>
              <a:t>SHOULD HAVE (NÊN CÓ)</a:t>
            </a:r>
          </a:p>
          <a:p>
            <a:pPr>
              <a:spcBef>
                <a:spcPts val="600"/>
              </a:spcBef>
              <a:defRPr sz="1000">
                <a:solidFill>
                  <a:srgbClr val="0F172A"/>
                </a:solidFill>
              </a:defRPr>
            </a:pPr>
            <a:r>
              <a:t>•  Trợ lý hỏi đáp RAG kết nối kho tri thức đã kiểm duyệt.</a:t>
            </a:r>
          </a:p>
          <a:p>
            <a:pPr>
              <a:spcBef>
                <a:spcPts val="600"/>
              </a:spcBef>
              <a:defRPr sz="1000">
                <a:solidFill>
                  <a:srgbClr val="0F172A"/>
                </a:solidFill>
              </a:defRPr>
            </a:pPr>
            <a:r>
              <a:t>•  Quản trị tài liệu kiến thức: phân đoạn văn bản và cập nhật chỉ mục tìm kiếm.</a:t>
            </a:r>
          </a:p>
          <a:p>
            <a:pPr>
              <a:spcBef>
                <a:spcPts val="600"/>
              </a:spcBef>
              <a:defRPr sz="1000">
                <a:solidFill>
                  <a:srgbClr val="0F172A"/>
                </a:solidFill>
              </a:defRPr>
            </a:pPr>
            <a:r>
              <a:t>•  Bảng điều khiển giám sát sức khỏe dịch vụ hệ thống.</a:t>
            </a:r>
          </a:p>
          <a:p>
            <a:pPr>
              <a:spcBef>
                <a:spcPts val="600"/>
              </a:spcBef>
              <a:defRPr sz="1000">
                <a:solidFill>
                  <a:srgbClr val="0F172A"/>
                </a:solidFill>
              </a:defRPr>
            </a:pPr>
            <a:r>
              <a:t>•  Thống kê phiên hoạt động, doanh thu thực tế, lượt tải ngôn ngữ và câu hỏi hỏi đáp.</a:t>
            </a:r>
          </a:p>
          <a:p>
            <a:pPr>
              <a:spcBef>
                <a:spcPts val="600"/>
              </a:spcBef>
              <a:defRPr sz="1000">
                <a:solidFill>
                  <a:srgbClr val="0F172A"/>
                </a:solidFill>
              </a:defRPr>
            </a:pPr>
            <a:r>
              <a:t>•  Cơ chế dự phòng ngôn ngữ: tự động chuyển về tiếng Anh hoặc tiếng Việt khi thiếu âm thanh.</a:t>
            </a:r>
          </a:p>
        </p:txBody>
      </p:sp>
      <p:sp>
        <p:nvSpPr>
          <p:cNvPr id="13" name="Rounded Rectangle 12"/>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79" y="1737360"/>
            <a:ext cx="3108960" cy="4206240"/>
          </a:xfrm>
          <a:prstGeom prst="rect">
            <a:avLst/>
          </a:prstGeom>
          <a:noFill/>
        </p:spPr>
        <p:txBody>
          <a:bodyPr wrap="square">
            <a:spAutoFit/>
          </a:bodyPr>
          <a:lstStyle/>
          <a:p>
            <a:pPr>
              <a:defRPr sz="1200" b="1">
                <a:solidFill>
                  <a:srgbClr val="D97706"/>
                </a:solidFill>
              </a:defRPr>
            </a:pPr>
            <a:r>
              <a:t>COULD HAVE (MỞ RỘNG)</a:t>
            </a:r>
          </a:p>
          <a:p>
            <a:pPr>
              <a:spcBef>
                <a:spcPts val="600"/>
              </a:spcBef>
              <a:defRPr sz="1000">
                <a:solidFill>
                  <a:srgbClr val="0F172A"/>
                </a:solidFill>
              </a:defRPr>
            </a:pPr>
            <a:r>
              <a:t>•  Hỗ trợ nhân viên cấp lại token khi du khách làm mất mã phiên.</a:t>
            </a:r>
          </a:p>
          <a:p>
            <a:pPr>
              <a:spcBef>
                <a:spcPts val="600"/>
              </a:spcBef>
              <a:defRPr sz="1000">
                <a:solidFill>
                  <a:srgbClr val="0F172A"/>
                </a:solidFill>
              </a:defRPr>
            </a:pPr>
            <a:r>
              <a:t>•  Tạo âm thanh tức thời theo yêu cầu riêng lẻ của du khách.</a:t>
            </a:r>
          </a:p>
          <a:p>
            <a:pPr>
              <a:spcBef>
                <a:spcPts val="600"/>
              </a:spcBef>
              <a:defRPr sz="1000">
                <a:solidFill>
                  <a:srgbClr val="0F172A"/>
                </a:solidFill>
              </a:defRPr>
            </a:pPr>
            <a:r>
              <a:t>•  Tích hợp môi trường thử nghiệm thanh toán Payoo thực tế.</a:t>
            </a:r>
          </a:p>
          <a:p>
            <a:pPr>
              <a:spcBef>
                <a:spcPts val="600"/>
              </a:spcBef>
              <a:defRPr sz="1000">
                <a:solidFill>
                  <a:srgbClr val="0F172A"/>
                </a:solidFill>
              </a:defRPr>
            </a:pPr>
            <a:r>
              <a:t>•  Chỉ đường đi bộ nâng cao theo bản đồ mạng lưới đường thực.</a:t>
            </a:r>
          </a:p>
          <a:p>
            <a:pPr>
              <a:spcBef>
                <a:spcPts val="600"/>
              </a:spcBef>
              <a:defRPr sz="1000">
                <a:solidFill>
                  <a:srgbClr val="0F172A"/>
                </a:solidFill>
              </a:defRPr>
            </a:pPr>
            <a:r>
              <a:t>•  Truyền phát âm thanh giọng đọc trực tiếp bằng cơ chế SSE.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User Stories Trọng Tâm: Nhóm A Và Nhóm B</a:t>
            </a:r>
          </a:p>
          <a:p>
            <a:pPr>
              <a:defRPr sz="1200">
                <a:solidFill>
                  <a:srgbClr val="64748B"/>
                </a:solidFill>
                <a:latin typeface="Segoe UI"/>
              </a:defRPr>
            </a:pPr>
            <a:r>
              <a:t>Đặc tả yêu cầu truy cập, thanh toán và thuyết minh định vị kèm tiêu chí chấp nhận AC</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9 / 24</a:t>
            </a:r>
          </a:p>
        </p:txBody>
      </p:sp>
      <p:sp>
        <p:nvSpPr>
          <p:cNvPr id="9" name="Rounded Rectangle 8"/>
          <p:cNvSpPr/>
          <p:nvPr/>
        </p:nvSpPr>
        <p:spPr>
          <a:xfrm>
            <a:off x="7315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US-A01 &amp; US-A02: Thanh Toán Online</a:t>
            </a:r>
          </a:p>
        </p:txBody>
      </p:sp>
      <p:sp>
        <p:nvSpPr>
          <p:cNvPr id="11" name="TextBox 10"/>
          <p:cNvSpPr txBox="1"/>
          <p:nvPr/>
        </p:nvSpPr>
        <p:spPr>
          <a:xfrm>
            <a:off x="868680" y="2148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thanh toán trực tuyến và nhận token để sử dụng hệ thống ngay lập tức.</a:t>
            </a:r>
          </a:p>
          <a:p>
            <a:pPr>
              <a:defRPr sz="950">
                <a:solidFill>
                  <a:srgbClr val="0F172A"/>
                </a:solidFill>
              </a:defRPr>
            </a:pPr>
            <a:r>
              <a:t>• AC1: Webhook thanh toán bắt buộc kiểm tra chữ ký, mã giao dịch và số tiền.</a:t>
            </a:r>
          </a:p>
          <a:p>
            <a:pPr>
              <a:defRPr sz="950">
                <a:solidFill>
                  <a:srgbClr val="0F172A"/>
                </a:solidFill>
              </a:defRPr>
            </a:pPr>
            <a:r>
              <a:t>• AC2: Webhook gửi lặp tuyệt đối không tạo thêm phiên hoặc nhân đôi doanh thu.</a:t>
            </a:r>
          </a:p>
          <a:p>
            <a:pPr>
              <a:defRPr sz="950">
                <a:solidFill>
                  <a:srgbClr val="0F172A"/>
                </a:solidFill>
              </a:defRPr>
            </a:pPr>
            <a:r>
              <a:t>• AC3: Mã đổi quyền có thời hạn và chỉ được đổi thành token đúng một lần.</a:t>
            </a:r>
          </a:p>
        </p:txBody>
      </p:sp>
      <p:sp>
        <p:nvSpPr>
          <p:cNvPr id="12" name="Rounded Rectangle 11"/>
          <p:cNvSpPr/>
          <p:nvPr/>
        </p:nvSpPr>
        <p:spPr>
          <a:xfrm>
            <a:off x="62179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US-A03: Thanh Toán Tiền Mặt</a:t>
            </a:r>
          </a:p>
        </p:txBody>
      </p:sp>
      <p:sp>
        <p:nvSpPr>
          <p:cNvPr id="14" name="TextBox 13"/>
          <p:cNvSpPr txBox="1"/>
          <p:nvPr/>
        </p:nvSpPr>
        <p:spPr>
          <a:xfrm>
            <a:off x="6355080" y="2148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trả tiền mặt cho nhân viên và nhập mã ngắn để kích hoạt quyền tham quan.</a:t>
            </a:r>
          </a:p>
          <a:p>
            <a:pPr>
              <a:defRPr sz="950">
                <a:solidFill>
                  <a:srgbClr val="0F172A"/>
                </a:solidFill>
              </a:defRPr>
            </a:pPr>
            <a:r>
              <a:t>• AC1: Khách tạo phiên chờ thanh toán, nhân viên xác nhận đã nhận tiền.</a:t>
            </a:r>
          </a:p>
          <a:p>
            <a:pPr>
              <a:defRPr sz="950">
                <a:solidFill>
                  <a:srgbClr val="0F172A"/>
                </a:solidFill>
              </a:defRPr>
            </a:pPr>
            <a:r>
              <a:t>• AC2: Hệ thống tạo mã ngắn lưu trong Redis kèm thời gian sống hữu hạn.</a:t>
            </a:r>
          </a:p>
          <a:p>
            <a:pPr>
              <a:defRPr sz="950">
                <a:solidFill>
                  <a:srgbClr val="0F172A"/>
                </a:solidFill>
              </a:defRPr>
            </a:pPr>
            <a:r>
              <a:t>• AC3: Mã ngắn hợp lệ chỉ đổi thành token một lần, tự hủy khi hết hạn hoặc dùng rồi.</a:t>
            </a:r>
          </a:p>
        </p:txBody>
      </p:sp>
      <p:sp>
        <p:nvSpPr>
          <p:cNvPr id="15" name="Rounded Rectangle 14"/>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US-A04: Quản Lý Phiên Khách</a:t>
            </a:r>
          </a:p>
        </p:txBody>
      </p:sp>
      <p:sp>
        <p:nvSpPr>
          <p:cNvPr id="17" name="TextBox 16"/>
          <p:cNvSpPr txBox="1"/>
          <p:nvPr/>
        </p:nvSpPr>
        <p:spPr>
          <a:xfrm>
            <a:off x="868680" y="4434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sử dụng hệ thống liên tục trong thời hạn vé mà không bị ngắt quãng.</a:t>
            </a:r>
          </a:p>
          <a:p>
            <a:pPr>
              <a:defRPr sz="950">
                <a:solidFill>
                  <a:srgbClr val="0F172A"/>
                </a:solidFill>
              </a:defRPr>
            </a:pPr>
            <a:r>
              <a:t>• AC1: Token gắn với phiên tham quan đã thanh toán, thời hạn mặc định 24 giờ.</a:t>
            </a:r>
          </a:p>
          <a:p>
            <a:pPr>
              <a:defRPr sz="950">
                <a:solidFill>
                  <a:srgbClr val="0F172A"/>
                </a:solidFill>
              </a:defRPr>
            </a:pPr>
            <a:r>
              <a:t>• AC2: Mọi API nghiệp vụ được bảo vệ đều kiểm tra tính hợp lệ và thời hạn phiên.</a:t>
            </a:r>
          </a:p>
          <a:p>
            <a:pPr>
              <a:defRPr sz="950">
                <a:solidFill>
                  <a:srgbClr val="0F172A"/>
                </a:solidFill>
              </a:defRPr>
            </a:pPr>
            <a:r>
              <a:t>• AC3: Token khách tuyệt đối không được phép truy cập vào chức năng nội bộ.</a:t>
            </a:r>
          </a:p>
        </p:txBody>
      </p:sp>
      <p:sp>
        <p:nvSpPr>
          <p:cNvPr id="18" name="Rounded Rectangle 17"/>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US-B02: Thuyết Minh Tự Động GPS</a:t>
            </a:r>
          </a:p>
        </p:txBody>
      </p:sp>
      <p:sp>
        <p:nvSpPr>
          <p:cNvPr id="20" name="TextBox 19"/>
          <p:cNvSpPr txBox="1"/>
          <p:nvPr/>
        </p:nvSpPr>
        <p:spPr>
          <a:xfrm>
            <a:off x="6355080" y="4434840"/>
            <a:ext cx="4937760" cy="1508760"/>
          </a:xfrm>
          <a:prstGeom prst="rect">
            <a:avLst/>
          </a:prstGeom>
          <a:noFill/>
        </p:spPr>
        <p:txBody>
          <a:bodyPr wrap="square">
            <a:spAutoFit/>
          </a:bodyPr>
          <a:lstStyle/>
          <a:p>
            <a:pPr>
              <a:spcAft>
                <a:spcPts val="400"/>
              </a:spcAft>
              <a:defRPr sz="1000" i="1">
                <a:solidFill>
                  <a:srgbClr val="64748B"/>
                </a:solidFill>
              </a:defRPr>
            </a:pPr>
            <a:r>
              <a:t>Là khách tham quan, tôi muốn nghe thuyết minh tự động khi đến gần điểm di tích mà không phải bấm chọn.</a:t>
            </a:r>
          </a:p>
          <a:p>
            <a:pPr>
              <a:defRPr sz="950">
                <a:solidFill>
                  <a:srgbClr val="0F172A"/>
                </a:solidFill>
              </a:defRPr>
            </a:pPr>
            <a:r>
              <a:t>• AC1: Bắt đầu kích hoạt âm thanh khi vào bán kính 50m của điểm tham quan.</a:t>
            </a:r>
          </a:p>
          <a:p>
            <a:pPr>
              <a:defRPr sz="950">
                <a:solidFill>
                  <a:srgbClr val="0F172A"/>
                </a:solidFill>
              </a:defRPr>
            </a:pPr>
            <a:r>
              <a:t>• AC2: Mỗi điểm chỉ tự phát đúng một lần trong một lượt đến gần.</a:t>
            </a:r>
          </a:p>
          <a:p>
            <a:pPr>
              <a:defRPr sz="950">
                <a:solidFill>
                  <a:srgbClr val="0F172A"/>
                </a:solidFill>
              </a:defRPr>
            </a:pPr>
            <a:r>
              <a:t>• AC3: Cơ chế chống lặp: chỉ đặt lại lượt mới khi khách rời xa vượt ngưỡng 75m.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User Stories Trọng Tâm: Nhóm C, D Và E</a:t>
            </a:r>
          </a:p>
          <a:p>
            <a:pPr>
              <a:defRPr sz="1200">
                <a:solidFill>
                  <a:srgbClr val="64748B"/>
                </a:solidFill>
                <a:latin typeface="Segoe UI"/>
              </a:defRPr>
            </a:pPr>
            <a:r>
              <a:t>Đặc tả yêu cầu nội dung đa ngôn ngữ, trợ lý hỏi đáp và tùy chỉnh lộ trình</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10 / 24</a:t>
            </a:r>
          </a:p>
        </p:txBody>
      </p:sp>
      <p:sp>
        <p:nvSpPr>
          <p:cNvPr id="9" name="Rounded Rectangle 8"/>
          <p:cNvSpPr/>
          <p:nvPr/>
        </p:nvSpPr>
        <p:spPr>
          <a:xfrm>
            <a:off x="7315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US-C01 &amp; US-C02: Nội Dung Đa Ngôn Ngữ</a:t>
            </a:r>
          </a:p>
        </p:txBody>
      </p:sp>
      <p:sp>
        <p:nvSpPr>
          <p:cNvPr id="11" name="TextBox 10"/>
          <p:cNvSpPr txBox="1"/>
          <p:nvPr/>
        </p:nvSpPr>
        <p:spPr>
          <a:xfrm>
            <a:off x="868680" y="2148840"/>
            <a:ext cx="4937760" cy="1508760"/>
          </a:xfrm>
          <a:prstGeom prst="rect">
            <a:avLst/>
          </a:prstGeom>
          <a:noFill/>
        </p:spPr>
        <p:txBody>
          <a:bodyPr wrap="square">
            <a:spAutoFit/>
          </a:bodyPr>
          <a:lstStyle/>
          <a:p>
            <a:pPr>
              <a:spcAft>
                <a:spcPts val="400"/>
              </a:spcAft>
              <a:defRPr sz="1000" i="1">
                <a:solidFill>
                  <a:srgbClr val="64748B"/>
                </a:solidFill>
              </a:defRPr>
            </a:pPr>
            <a:r>
              <a:t>Quản lý dữ liệu POI, tự động dịch và tạo âm thanh trước; tải gói bundle độc lập.</a:t>
            </a:r>
          </a:p>
          <a:p>
            <a:pPr>
              <a:defRPr sz="950">
                <a:solidFill>
                  <a:srgbClr val="0F172A"/>
                </a:solidFill>
              </a:defRPr>
            </a:pPr>
            <a:r>
              <a:t>• AC1: Một gói bundle chứa toàn bộ thông tin POI, tọa độ, bài viết và đường dẫn âm thanh.</a:t>
            </a:r>
          </a:p>
          <a:p>
            <a:pPr>
              <a:defRPr sz="950">
                <a:solidFill>
                  <a:srgbClr val="0F172A"/>
                </a:solidFill>
              </a:defRPr>
            </a:pPr>
            <a:r>
              <a:t>• AC2: Giao diện chỉ tải bundle một lần theo ngôn ngữ, không gọi lại API lấy POI khi di chuyển.</a:t>
            </a:r>
          </a:p>
          <a:p>
            <a:pPr>
              <a:defRPr sz="950">
                <a:solidFill>
                  <a:srgbClr val="0F172A"/>
                </a:solidFill>
              </a:defRPr>
            </a:pPr>
            <a:r>
              <a:t>• AC3: Cập nhật nội dung tiếng Việt tự động tạo tác vụ nền dịch thuật và tạo âm thanh.</a:t>
            </a:r>
          </a:p>
        </p:txBody>
      </p:sp>
      <p:sp>
        <p:nvSpPr>
          <p:cNvPr id="12" name="Rounded Rectangle 11"/>
          <p:cNvSpPr/>
          <p:nvPr/>
        </p:nvSpPr>
        <p:spPr>
          <a:xfrm>
            <a:off x="62179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US-C03: Dự Phòng Ngôn Ngữ Fallback</a:t>
            </a:r>
          </a:p>
        </p:txBody>
      </p:sp>
      <p:sp>
        <p:nvSpPr>
          <p:cNvPr id="14" name="TextBox 13"/>
          <p:cNvSpPr txBox="1"/>
          <p:nvPr/>
        </p:nvSpPr>
        <p:spPr>
          <a:xfrm>
            <a:off x="6355080" y="2148840"/>
            <a:ext cx="4937760" cy="1508760"/>
          </a:xfrm>
          <a:prstGeom prst="rect">
            <a:avLst/>
          </a:prstGeom>
          <a:noFill/>
        </p:spPr>
        <p:txBody>
          <a:bodyPr wrap="square">
            <a:spAutoFit/>
          </a:bodyPr>
          <a:lstStyle/>
          <a:p>
            <a:pPr>
              <a:spcAft>
                <a:spcPts val="400"/>
              </a:spcAft>
              <a:defRPr sz="1000" i="1">
                <a:solidFill>
                  <a:srgbClr val="64748B"/>
                </a:solidFill>
              </a:defRPr>
            </a:pPr>
            <a:r>
              <a:t>Đảm bảo trải nghiệm liền mạch khi ngôn ngữ hoặc âm thanh chưa sẵn sàng.</a:t>
            </a:r>
          </a:p>
          <a:p>
            <a:pPr>
              <a:defRPr sz="950">
                <a:solidFill>
                  <a:srgbClr val="0F172A"/>
                </a:solidFill>
              </a:defRPr>
            </a:pPr>
            <a:r>
              <a:t>• AC1: Thiếu nội dung ngôn ngữ yêu cầu: ưu tiên tự động chuyển về tiếng Anh, sau đó tiếng Việt.</a:t>
            </a:r>
          </a:p>
          <a:p>
            <a:pPr>
              <a:defRPr sz="950">
                <a:solidFill>
                  <a:srgbClr val="0F172A"/>
                </a:solidFill>
              </a:defRPr>
            </a:pPr>
            <a:r>
              <a:t>• AC2: Chưa có tệp âm thanh: cho phép khách đọc văn bản kèm thông báo rõ ràng.</a:t>
            </a:r>
          </a:p>
          <a:p>
            <a:pPr>
              <a:defRPr sz="950">
                <a:solidFill>
                  <a:srgbClr val="0F172A"/>
                </a:solidFill>
              </a:defRPr>
            </a:pPr>
            <a:r>
              <a:t>• AC3: Giao diện hiển thị đúng nhãn ngôn ngữ thực tế, không gây hiểu lầm cho người dùng.</a:t>
            </a:r>
          </a:p>
        </p:txBody>
      </p:sp>
      <p:sp>
        <p:nvSpPr>
          <p:cNvPr id="15" name="Rounded Rectangle 14"/>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US-D01 &amp; US-D02: Trợ Lý Hỏi Đáp RAG</a:t>
            </a:r>
          </a:p>
        </p:txBody>
      </p:sp>
      <p:sp>
        <p:nvSpPr>
          <p:cNvPr id="17" name="TextBox 16"/>
          <p:cNvSpPr txBox="1"/>
          <p:nvPr/>
        </p:nvSpPr>
        <p:spPr>
          <a:xfrm>
            <a:off x="868680" y="4434840"/>
            <a:ext cx="4937760" cy="1508760"/>
          </a:xfrm>
          <a:prstGeom prst="rect">
            <a:avLst/>
          </a:prstGeom>
          <a:noFill/>
        </p:spPr>
        <p:txBody>
          <a:bodyPr wrap="square">
            <a:spAutoFit/>
          </a:bodyPr>
          <a:lstStyle/>
          <a:p>
            <a:pPr>
              <a:spcAft>
                <a:spcPts val="400"/>
              </a:spcAft>
              <a:defRPr sz="1000" i="1">
                <a:solidFill>
                  <a:srgbClr val="64748B"/>
                </a:solidFill>
              </a:defRPr>
            </a:pPr>
            <a:r>
              <a:t>Du khách đặt câu hỏi tự nhiên để nhận câu trả lời chính xác có nguồn dẫn chứng.</a:t>
            </a:r>
          </a:p>
          <a:p>
            <a:pPr>
              <a:defRPr sz="950">
                <a:solidFill>
                  <a:srgbClr val="0F172A"/>
                </a:solidFill>
              </a:defRPr>
            </a:pPr>
            <a:r>
              <a:t>• AC1: Chỉ du khách có phiên tham quan hợp lệ mới được gửi câu hỏi đến chatbot.</a:t>
            </a:r>
          </a:p>
          <a:p>
            <a:pPr>
              <a:defRPr sz="950">
                <a:solidFill>
                  <a:srgbClr val="0F172A"/>
                </a:solidFill>
              </a:defRPr>
            </a:pPr>
            <a:r>
              <a:t>• AC2: Hệ thống truy hồi đoạn tài liệu phù hợp, trả lời bằng mô hình ngôn ngữ kèm trích dẫn nguồn.</a:t>
            </a:r>
          </a:p>
          <a:p>
            <a:pPr>
              <a:defRPr sz="950">
                <a:solidFill>
                  <a:srgbClr val="0F172A"/>
                </a:solidFill>
              </a:defRPr>
            </a:pPr>
            <a:r>
              <a:t>• AC3: Không đủ căn cứ trả lời: hệ thống chủ động thông báo chưa có thông tin xác thực.</a:t>
            </a:r>
          </a:p>
        </p:txBody>
      </p:sp>
      <p:sp>
        <p:nvSpPr>
          <p:cNvPr id="18" name="Rounded Rectangle 17"/>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US-E01: Lộ Trình Tham Quan Tùy Chỉnh</a:t>
            </a:r>
          </a:p>
        </p:txBody>
      </p:sp>
      <p:sp>
        <p:nvSpPr>
          <p:cNvPr id="20" name="TextBox 19"/>
          <p:cNvSpPr txBox="1"/>
          <p:nvPr/>
        </p:nvSpPr>
        <p:spPr>
          <a:xfrm>
            <a:off x="6355080" y="4434840"/>
            <a:ext cx="4937760" cy="1508760"/>
          </a:xfrm>
          <a:prstGeom prst="rect">
            <a:avLst/>
          </a:prstGeom>
          <a:noFill/>
        </p:spPr>
        <p:txBody>
          <a:bodyPr wrap="square">
            <a:spAutoFit/>
          </a:bodyPr>
          <a:lstStyle/>
          <a:p>
            <a:pPr>
              <a:spcAft>
                <a:spcPts val="400"/>
              </a:spcAft>
              <a:defRPr sz="1000" i="1">
                <a:solidFill>
                  <a:srgbClr val="64748B"/>
                </a:solidFill>
              </a:defRPr>
            </a:pPr>
            <a:r>
              <a:t>Lựa chọn tour mẫu hoặc tự chọn danh sách các điểm muốn ghé thăm.</a:t>
            </a:r>
          </a:p>
          <a:p>
            <a:pPr>
              <a:defRPr sz="950">
                <a:solidFill>
                  <a:srgbClr val="0F172A"/>
                </a:solidFill>
              </a:defRPr>
            </a:pPr>
            <a:r>
              <a:t>• AC1: Tour mẫu có sẵn danh sách các điểm di tích được sắp xếp theo trình tự tham quan hợp lý.</a:t>
            </a:r>
          </a:p>
          <a:p>
            <a:pPr>
              <a:defRPr sz="950">
                <a:solidFill>
                  <a:srgbClr val="0F172A"/>
                </a:solidFill>
              </a:defRPr>
            </a:pPr>
            <a:r>
              <a:t>• AC2: Khách tự do thêm hoặc bớt điểm; giao diện tự tính khoảng cách tối ưu giữa các điểm.</a:t>
            </a:r>
          </a:p>
          <a:p>
            <a:pPr>
              <a:defRPr sz="950">
                <a:solidFill>
                  <a:srgbClr val="0F172A"/>
                </a:solidFill>
              </a:defRPr>
            </a:pPr>
            <a:r>
              <a:t>• AC3: Bản đồ hiển thị đường nối trực quan và khoảng cách ước tính giữa các điểm tham quan.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2: PRD</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Quy Tắc Nghiệp Vụ Và Yêu Cầu Phi Chức Năng</a:t>
            </a:r>
          </a:p>
          <a:p>
            <a:pPr>
              <a:defRPr sz="1200">
                <a:solidFill>
                  <a:srgbClr val="64748B"/>
                </a:solidFill>
                <a:latin typeface="Segoe UI"/>
              </a:defRPr>
            </a:pPr>
            <a:r>
              <a:t>Thiết lập các tiêu chuẩn vận hành an toàn, hiệu năng và độ tin cậy của hệ thống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11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Quy Tắc Nghiệp Vụ Cốt Lõi</a:t>
            </a:r>
          </a:p>
        </p:txBody>
      </p:sp>
      <p:sp>
        <p:nvSpPr>
          <p:cNvPr id="11" name="TextBox 10"/>
          <p:cNvSpPr txBox="1"/>
          <p:nvPr/>
        </p:nvSpPr>
        <p:spPr>
          <a:xfrm>
            <a:off x="914400" y="2194560"/>
            <a:ext cx="4846320" cy="3749039"/>
          </a:xfrm>
          <a:prstGeom prst="rect">
            <a:avLst/>
          </a:prstGeom>
          <a:noFill/>
        </p:spPr>
        <p:txBody>
          <a:bodyPr wrap="square">
            <a:spAutoFit/>
          </a:bodyPr>
          <a:lstStyle/>
          <a:p>
            <a:pPr>
              <a:spcAft>
                <a:spcPts val="600"/>
              </a:spcAft>
              <a:defRPr sz="1050" b="1">
                <a:solidFill>
                  <a:srgbClr val="1E3A8A"/>
                </a:solidFill>
                <a:latin typeface="Segoe UI"/>
              </a:defRPr>
            </a:pPr>
            <a:r>
              <a:t>• Thời hạn phiên vé: </a:t>
            </a:r>
            <a:r>
              <a:rPr b="0">
                <a:solidFill>
                  <a:srgbClr val="0F172A"/>
                </a:solidFill>
              </a:rPr>
              <a:t>Phiên tham quan có hiệu lực đúng 24 giờ kể từ thời điểm xác nhận thanh toán thành công. Không tự động gia hạn.</a:t>
            </a:r>
          </a:p>
          <a:p>
            <a:pPr>
              <a:spcAft>
                <a:spcPts val="600"/>
              </a:spcAft>
              <a:defRPr sz="1050" b="1">
                <a:solidFill>
                  <a:srgbClr val="1E3A8A"/>
                </a:solidFill>
                <a:latin typeface="Segoe UI"/>
              </a:defRPr>
            </a:pPr>
            <a:r>
              <a:t>• Không lưu tài khoản khách: </a:t>
            </a:r>
            <a:r>
              <a:rPr b="0">
                <a:solidFill>
                  <a:srgbClr val="0F172A"/>
                </a:solidFill>
              </a:rPr>
              <a:t>Không yêu cầu khách tạo tài khoản cá nhân; quyền sử dụng gắn liền hoàn toàn với phiên thanh toán và token.</a:t>
            </a:r>
          </a:p>
          <a:p>
            <a:pPr>
              <a:spcAft>
                <a:spcPts val="600"/>
              </a:spcAft>
              <a:defRPr sz="1050" b="1">
                <a:solidFill>
                  <a:srgbClr val="1E3A8A"/>
                </a:solidFill>
                <a:latin typeface="Segoe UI"/>
              </a:defRPr>
            </a:pPr>
            <a:r>
              <a:t>• Bảo toàn doanh thu: </a:t>
            </a:r>
            <a:r>
              <a:rPr b="0">
                <a:solidFill>
                  <a:srgbClr val="0F172A"/>
                </a:solidFill>
              </a:rPr>
              <a:t>Xác nhận webhook lặp hoặc nhập mã nhiều lần tuyệt đối không tạo bản ghi thanh toán mới hoặc kéo dài thời hạn vé.</a:t>
            </a:r>
          </a:p>
          <a:p>
            <a:pPr>
              <a:spcAft>
                <a:spcPts val="600"/>
              </a:spcAft>
              <a:defRPr sz="1050" b="1">
                <a:solidFill>
                  <a:srgbClr val="1E3A8A"/>
                </a:solidFill>
                <a:latin typeface="Segoe UI"/>
              </a:defRPr>
            </a:pPr>
            <a:r>
              <a:t>• Bán kính kích hoạt âm thanh: </a:t>
            </a:r>
            <a:r>
              <a:rPr b="0">
                <a:solidFill>
                  <a:srgbClr val="0F172A"/>
                </a:solidFill>
              </a:rPr>
              <a:t>Bán kính mặc định 50m; chỉ kích hoạt khi âm thanh sẵn sàng và du khách đã thực hiện thao tác mở khóa âm thanh.</a:t>
            </a:r>
          </a:p>
          <a:p>
            <a:pPr>
              <a:spcAft>
                <a:spcPts val="600"/>
              </a:spcAft>
              <a:defRPr sz="1050" b="1">
                <a:solidFill>
                  <a:srgbClr val="1E3A8A"/>
                </a:solidFill>
                <a:latin typeface="Segoe UI"/>
              </a:defRPr>
            </a:pPr>
            <a:r>
              <a:t>• Chống phát lặp thông minh: </a:t>
            </a:r>
            <a:r>
              <a:rPr b="0">
                <a:solidFill>
                  <a:srgbClr val="0F172A"/>
                </a:solidFill>
              </a:rPr>
              <a:t>Sau khi đã phát, chỉ cho phép phát lại điểm đó nếu du khách đã di chuyển ra xa vượt ngưỡng 75m rồi quay trở lại.</a:t>
            </a:r>
          </a:p>
        </p:txBody>
      </p:sp>
      <p:sp>
        <p:nvSpPr>
          <p:cNvPr id="12" name="Rounded Rectangle 11"/>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Yêu Cầu Phi Chức Năng (NFR)</a:t>
            </a:r>
          </a:p>
        </p:txBody>
      </p:sp>
      <p:sp>
        <p:nvSpPr>
          <p:cNvPr id="14" name="TextBox 13"/>
          <p:cNvSpPr txBox="1"/>
          <p:nvPr/>
        </p:nvSpPr>
        <p:spPr>
          <a:xfrm>
            <a:off x="6400800" y="2194560"/>
            <a:ext cx="4846320" cy="3749039"/>
          </a:xfrm>
          <a:prstGeom prst="rect">
            <a:avLst/>
          </a:prstGeom>
          <a:noFill/>
        </p:spPr>
        <p:txBody>
          <a:bodyPr wrap="square">
            <a:spAutoFit/>
          </a:bodyPr>
          <a:lstStyle/>
          <a:p>
            <a:pPr>
              <a:spcAft>
                <a:spcPts val="600"/>
              </a:spcAft>
              <a:defRPr sz="1050" b="1">
                <a:solidFill>
                  <a:srgbClr val="0D9488"/>
                </a:solidFill>
                <a:latin typeface="Segoe UI"/>
              </a:defRPr>
            </a:pPr>
            <a:r>
              <a:t>• Hiệu năng phản hồi: </a:t>
            </a:r>
            <a:r>
              <a:rPr b="0">
                <a:solidFill>
                  <a:srgbClr val="0F172A"/>
                </a:solidFill>
              </a:rPr>
              <a:t>Thời gian phản hồi các API tra cứu dưới 200 mili giây. Tải toàn bộ gói dữ liệu bundle ngôn ngữ dưới 2 giây trên mạng di động 4G.</a:t>
            </a:r>
          </a:p>
          <a:p>
            <a:pPr>
              <a:spcAft>
                <a:spcPts val="600"/>
              </a:spcAft>
              <a:defRPr sz="1050" b="1">
                <a:solidFill>
                  <a:srgbClr val="0D9488"/>
                </a:solidFill>
                <a:latin typeface="Segoe UI"/>
              </a:defRPr>
            </a:pPr>
            <a:r>
              <a:t>• An toàn &amp; Bảo mật: </a:t>
            </a:r>
            <a:r>
              <a:rPr b="0">
                <a:solidFill>
                  <a:srgbClr val="0F172A"/>
                </a:solidFill>
              </a:rPr>
              <a:t>Mật khẩu nhân viên băm bằng thuật ngữ bcrypt; refresh token lưu dạng băm sha256; tự động khóa tài khoản 15 phút sau 5 lần nhập sai liên tiếp.</a:t>
            </a:r>
          </a:p>
          <a:p>
            <a:pPr>
              <a:spcAft>
                <a:spcPts val="600"/>
              </a:spcAft>
              <a:defRPr sz="1050" b="1">
                <a:solidFill>
                  <a:srgbClr val="0D9488"/>
                </a:solidFill>
                <a:latin typeface="Segoe UI"/>
              </a:defRPr>
            </a:pPr>
            <a:r>
              <a:t>• Kiểm soát phiên: </a:t>
            </a:r>
            <a:r>
              <a:rPr b="0">
                <a:solidFill>
                  <a:srgbClr val="0F172A"/>
                </a:solidFill>
              </a:rPr>
              <a:t>Xoay vòng refresh token sau mỗi lần cấp mới access token; vô hiệu hóa toàn bộ phiên khi đăng xuất an toàn.</a:t>
            </a:r>
          </a:p>
          <a:p>
            <a:pPr>
              <a:spcAft>
                <a:spcPts val="600"/>
              </a:spcAft>
              <a:defRPr sz="1050" b="1">
                <a:solidFill>
                  <a:srgbClr val="0D9488"/>
                </a:solidFill>
                <a:latin typeface="Segoe UI"/>
              </a:defRPr>
            </a:pPr>
            <a:r>
              <a:t>• Độ tin cậy dữ liệu: </a:t>
            </a:r>
            <a:r>
              <a:rPr b="0">
                <a:solidFill>
                  <a:srgbClr val="0F172A"/>
                </a:solidFill>
              </a:rPr>
              <a:t>MySQL làm nguồn đối soát chính thức; Redis chỉ đóng vai trò lưu trữ tạm thời, lỗi Redis không làm sai lệch số liệu thanh toán.</a:t>
            </a:r>
          </a:p>
          <a:p>
            <a:pPr>
              <a:spcAft>
                <a:spcPts val="600"/>
              </a:spcAft>
              <a:defRPr sz="1050" b="1">
                <a:solidFill>
                  <a:srgbClr val="0D9488"/>
                </a:solidFill>
                <a:latin typeface="Segoe UI"/>
              </a:defRPr>
            </a:pPr>
            <a:r>
              <a:t>• Chất lượng mã nguồn: </a:t>
            </a:r>
            <a:r>
              <a:rPr b="0">
                <a:solidFill>
                  <a:srgbClr val="0F172A"/>
                </a:solidFill>
              </a:rPr>
              <a:t>Tự động kiểm tra chất lượng mã nguồn qua linter, đạt tỷ lệ bao phủ kiểm thử đơn vị và kiểm thử tích hợp trên GitHub Actions.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Tác Nhân Và Ranh Giới Hệ Thống</a:t>
            </a:r>
          </a:p>
          <a:p>
            <a:pPr>
              <a:defRPr sz="1200">
                <a:solidFill>
                  <a:srgbClr val="64748B"/>
                </a:solidFill>
                <a:latin typeface="Segoe UI"/>
              </a:defRPr>
            </a:pPr>
            <a:r>
              <a:t>Xác định rõ các thực thể tương tác và ranh giới trách nhiệm của ứng dụng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12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Phân Loại Tác Nhân (Actors)</a:t>
            </a:r>
          </a:p>
        </p:txBody>
      </p:sp>
      <p:sp>
        <p:nvSpPr>
          <p:cNvPr id="11" name="TextBox 10"/>
          <p:cNvSpPr txBox="1"/>
          <p:nvPr/>
        </p:nvSpPr>
        <p:spPr>
          <a:xfrm>
            <a:off x="914400" y="2194560"/>
            <a:ext cx="4846320" cy="3749039"/>
          </a:xfrm>
          <a:prstGeom prst="rect">
            <a:avLst/>
          </a:prstGeom>
          <a:noFill/>
        </p:spPr>
        <p:txBody>
          <a:bodyPr wrap="square">
            <a:spAutoFit/>
          </a:bodyPr>
          <a:lstStyle/>
          <a:p>
            <a:pPr>
              <a:spcAft>
                <a:spcPts val="400"/>
              </a:spcAft>
              <a:defRPr sz="1000" b="1">
                <a:solidFill>
                  <a:srgbClr val="1E3A8A"/>
                </a:solidFill>
                <a:latin typeface="Segoe UI"/>
              </a:defRPr>
            </a:pPr>
            <a:r>
              <a:t>• Khách tham quan: </a:t>
            </a:r>
            <a:r>
              <a:rPr b="0">
                <a:solidFill>
                  <a:srgbClr val="0F172A"/>
                </a:solidFill>
              </a:rPr>
              <a:t>Người dùng trực tiếp quét QR, trả phí, sử dụng bản đồ, nghe audio và tương tác với chatbot.</a:t>
            </a:r>
          </a:p>
          <a:p>
            <a:pPr>
              <a:spcAft>
                <a:spcPts val="400"/>
              </a:spcAft>
              <a:defRPr sz="1000" b="1">
                <a:solidFill>
                  <a:srgbClr val="1E3A8A"/>
                </a:solidFill>
                <a:latin typeface="Segoe UI"/>
              </a:defRPr>
            </a:pPr>
            <a:r>
              <a:t>• Nhân viên (STAFF): </a:t>
            </a:r>
            <a:r>
              <a:rPr b="0">
                <a:solidFill>
                  <a:srgbClr val="0F172A"/>
                </a:solidFill>
              </a:rPr>
              <a:t>Người dùng nội bộ chịu trách nhiệm xác nhận tiền mặt, quản lý điểm tham quan và cập nhật kho kiến thức.</a:t>
            </a:r>
          </a:p>
          <a:p>
            <a:pPr>
              <a:spcAft>
                <a:spcPts val="400"/>
              </a:spcAft>
              <a:defRPr sz="1000" b="1">
                <a:solidFill>
                  <a:srgbClr val="1E3A8A"/>
                </a:solidFill>
                <a:latin typeface="Segoe UI"/>
              </a:defRPr>
            </a:pPr>
            <a:r>
              <a:t>• Quản trị viên (ADMIN): </a:t>
            </a:r>
            <a:r>
              <a:rPr b="0">
                <a:solidFill>
                  <a:srgbClr val="0F172A"/>
                </a:solidFill>
              </a:rPr>
              <a:t>Người dùng đặc quyền cao nhất: tạo tài khoản nhân viên, kiểm tra nhật ký và giám sát hệ thống.</a:t>
            </a:r>
          </a:p>
          <a:p>
            <a:pPr>
              <a:spcAft>
                <a:spcPts val="400"/>
              </a:spcAft>
              <a:defRPr sz="1000" b="1">
                <a:solidFill>
                  <a:srgbClr val="1E3A8A"/>
                </a:solidFill>
                <a:latin typeface="Segoe UI"/>
              </a:defRPr>
            </a:pPr>
            <a:r>
              <a:t>• Cổng thanh toán: </a:t>
            </a:r>
            <a:r>
              <a:rPr b="0">
                <a:solidFill>
                  <a:srgbClr val="0F172A"/>
                </a:solidFill>
              </a:rPr>
              <a:t>Hệ thống bên thứ ba nhận yêu cầu trả phí và gửi webhook thông báo kết quả giao dịch.</a:t>
            </a:r>
          </a:p>
          <a:p>
            <a:pPr>
              <a:spcAft>
                <a:spcPts val="400"/>
              </a:spcAft>
              <a:defRPr sz="1000" b="1">
                <a:solidFill>
                  <a:srgbClr val="1E3A8A"/>
                </a:solidFill>
                <a:latin typeface="Segoe UI"/>
              </a:defRPr>
            </a:pPr>
            <a:r>
              <a:t>• Dịch vụ Dịch thuật &amp; TTS: </a:t>
            </a:r>
            <a:r>
              <a:rPr b="0">
                <a:solidFill>
                  <a:srgbClr val="0F172A"/>
                </a:solidFill>
              </a:rPr>
              <a:t>Dịch vụ bên ngoài hỗ trợ pipeline tạo tự động nội dung văn bản và tệp âm thanh giọng đọc.</a:t>
            </a:r>
          </a:p>
          <a:p>
            <a:pPr>
              <a:spcAft>
                <a:spcPts val="400"/>
              </a:spcAft>
              <a:defRPr sz="1000" b="1">
                <a:solidFill>
                  <a:srgbClr val="1E3A8A"/>
                </a:solidFill>
                <a:latin typeface="Segoe UI"/>
              </a:defRPr>
            </a:pPr>
            <a:r>
              <a:t>• Dịch vụ AI (Embedding &amp; LLM): </a:t>
            </a:r>
            <a:r>
              <a:rPr b="0">
                <a:solidFill>
                  <a:srgbClr val="0F172A"/>
                </a:solidFill>
              </a:rPr>
              <a:t>Mô hình ngôn ngữ phục vụ tìm kiếm ngữ cảnh và tạo câu trả lời cho phân hệ chatbot.</a:t>
            </a:r>
          </a:p>
        </p:txBody>
      </p:sp>
      <p:sp>
        <p:nvSpPr>
          <p:cNvPr id="12" name="Rounded Rectangle 11"/>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Ranh Giới Hệ Thống (System Boundary)</a:t>
            </a:r>
          </a:p>
        </p:txBody>
      </p:sp>
      <p:sp>
        <p:nvSpPr>
          <p:cNvPr id="14" name="TextBox 13"/>
          <p:cNvSpPr txBox="1"/>
          <p:nvPr/>
        </p:nvSpPr>
        <p:spPr>
          <a:xfrm>
            <a:off x="6400800" y="2194560"/>
            <a:ext cx="4846320" cy="3749039"/>
          </a:xfrm>
          <a:prstGeom prst="rect">
            <a:avLst/>
          </a:prstGeom>
          <a:noFill/>
        </p:spPr>
        <p:txBody>
          <a:bodyPr wrap="square">
            <a:spAutoFit/>
          </a:bodyPr>
          <a:lstStyle/>
          <a:p>
            <a:pPr>
              <a:spcAft>
                <a:spcPts val="800"/>
              </a:spcAft>
              <a:defRPr sz="1050" b="1">
                <a:solidFill>
                  <a:srgbClr val="0D9488"/>
                </a:solidFill>
                <a:latin typeface="Segoe UI"/>
              </a:defRPr>
            </a:pPr>
            <a:r>
              <a:t>• Phía Trình Duyệt (Client): </a:t>
            </a:r>
            <a:r>
              <a:rPr b="0">
                <a:solidFill>
                  <a:srgbClr val="0F172A"/>
                </a:solidFill>
              </a:rPr>
              <a:t>Chỉ đảm nhận hiển thị bản đồ số Leaflet, định vị GPS thiết bị, giải mã âm thanh và sắp xếp lộ trình từ gói dữ liệu đã tải. Không chứa khóa bảo mật hay logic xác thực.</a:t>
            </a:r>
          </a:p>
          <a:p>
            <a:pPr>
              <a:spcAft>
                <a:spcPts val="800"/>
              </a:spcAft>
              <a:defRPr sz="1050" b="1">
                <a:solidFill>
                  <a:srgbClr val="0D9488"/>
                </a:solidFill>
                <a:latin typeface="Segoe UI"/>
              </a:defRPr>
            </a:pPr>
            <a:r>
              <a:t>• Phía Máy Chủ (Back-end): </a:t>
            </a:r>
            <a:r>
              <a:rPr b="0">
                <a:solidFill>
                  <a:srgbClr val="0F172A"/>
                </a:solidFill>
              </a:rPr>
              <a:t>Trung tâm điều phối: xác minh webhook, sinh mã ngắn Redis, cấp phát token, phân quyền người dùng, đóng gói dữ liệu bundle và lưu trữ cơ sở dữ liệu MySQL.</a:t>
            </a:r>
          </a:p>
          <a:p>
            <a:pPr>
              <a:spcAft>
                <a:spcPts val="800"/>
              </a:spcAft>
              <a:defRPr sz="1050" b="1">
                <a:solidFill>
                  <a:srgbClr val="0D9488"/>
                </a:solidFill>
                <a:latin typeface="Segoe UI"/>
              </a:defRPr>
            </a:pPr>
            <a:r>
              <a:t>• Kết Nối Dịch Vụ Ngoài: </a:t>
            </a:r>
            <a:r>
              <a:rPr b="0">
                <a:solidFill>
                  <a:srgbClr val="0F172A"/>
                </a:solidFill>
              </a:rPr>
              <a:t>Tất cả giao tiếp với cổng thanh toán, dịch thuật, TTS và trí tuệ nhân tạo đều đi qua lớp Adapter riêng biệt để dễ dàng kiểm thử và thay thế.</a:t>
            </a:r>
          </a:p>
          <a:p>
            <a:pPr>
              <a:spcAft>
                <a:spcPts val="800"/>
              </a:spcAft>
              <a:defRPr sz="1050" b="1">
                <a:solidFill>
                  <a:srgbClr val="0D9488"/>
                </a:solidFill>
                <a:latin typeface="Segoe UI"/>
              </a:defRPr>
            </a:pPr>
            <a:r>
              <a:t>• Tính Khép Kín Dữ Liệu: </a:t>
            </a:r>
            <a:r>
              <a:rPr b="0">
                <a:solidFill>
                  <a:srgbClr val="0F172A"/>
                </a:solidFill>
              </a:rPr>
              <a:t>Dữ liệu địa điểm, tọa độ, bản dịch và kho kiến thức được lưu trữ tập trung tại máy chủ, không phụ thuộc vào hạ tầng mạng cục bộ tại chùa.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Mô Hình 18 Use Cases Và Bảng Đối Chiếu</a:t>
            </a:r>
          </a:p>
          <a:p>
            <a:pPr>
              <a:defRPr sz="1200">
                <a:solidFill>
                  <a:srgbClr val="64748B"/>
                </a:solidFill>
                <a:latin typeface="Segoe UI"/>
              </a:defRPr>
            </a:pPr>
            <a:r>
              <a:t>Bao quát toàn diện các chức năng nghiệp vụ của du khách và công tác quản trị</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13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3108960" cy="365760"/>
          </a:xfrm>
          <a:prstGeom prst="rect">
            <a:avLst/>
          </a:prstGeom>
          <a:noFill/>
        </p:spPr>
        <p:txBody>
          <a:bodyPr wrap="square">
            <a:spAutoFit/>
          </a:bodyPr>
          <a:lstStyle/>
          <a:p>
            <a:pPr>
              <a:defRPr sz="1300" b="1">
                <a:solidFill>
                  <a:srgbClr val="1E3A8A"/>
                </a:solidFill>
                <a:latin typeface="Segoe UI"/>
              </a:defRPr>
            </a:pPr>
            <a:r>
              <a:t>Phân Hệ Du Khách (8 Use Cases)</a:t>
            </a:r>
          </a:p>
        </p:txBody>
      </p:sp>
      <p:sp>
        <p:nvSpPr>
          <p:cNvPr id="11" name="TextBox 10"/>
          <p:cNvSpPr txBox="1"/>
          <p:nvPr/>
        </p:nvSpPr>
        <p:spPr>
          <a:xfrm>
            <a:off x="868680" y="2194560"/>
            <a:ext cx="3108960" cy="3749039"/>
          </a:xfrm>
          <a:prstGeom prst="rect">
            <a:avLst/>
          </a:prstGeom>
          <a:noFill/>
        </p:spPr>
        <p:txBody>
          <a:bodyPr wrap="square">
            <a:spAutoFit/>
          </a:bodyPr>
          <a:lstStyle/>
          <a:p>
            <a:pPr>
              <a:spcAft>
                <a:spcPts val="600"/>
              </a:spcAft>
              <a:defRPr sz="1000">
                <a:solidFill>
                  <a:srgbClr val="0F172A"/>
                </a:solidFill>
                <a:latin typeface="Segoe UI"/>
              </a:defRPr>
            </a:pPr>
            <a:r>
              <a:t>UC-01: Thanh toán trực tuyến</a:t>
            </a:r>
          </a:p>
          <a:p>
            <a:pPr>
              <a:spcAft>
                <a:spcPts val="600"/>
              </a:spcAft>
              <a:defRPr sz="1000">
                <a:solidFill>
                  <a:srgbClr val="0F172A"/>
                </a:solidFill>
                <a:latin typeface="Segoe UI"/>
              </a:defRPr>
            </a:pPr>
            <a:r>
              <a:t>UC-02: Thanh toán tiền mặt tại quầy</a:t>
            </a:r>
          </a:p>
          <a:p>
            <a:pPr>
              <a:spcAft>
                <a:spcPts val="600"/>
              </a:spcAft>
              <a:defRPr sz="1000">
                <a:solidFill>
                  <a:srgbClr val="0F172A"/>
                </a:solidFill>
                <a:latin typeface="Segoe UI"/>
              </a:defRPr>
            </a:pPr>
            <a:r>
              <a:t>UC-03: Xem bản đồ và thông tin điểm tham quan</a:t>
            </a:r>
          </a:p>
          <a:p>
            <a:pPr>
              <a:spcAft>
                <a:spcPts val="600"/>
              </a:spcAft>
              <a:defRPr sz="1000">
                <a:solidFill>
                  <a:srgbClr val="0F172A"/>
                </a:solidFill>
                <a:latin typeface="Segoe UI"/>
              </a:defRPr>
            </a:pPr>
            <a:r>
              <a:t>UC-04: Lựa chọn ngôn ngữ tham quan</a:t>
            </a:r>
          </a:p>
          <a:p>
            <a:pPr>
              <a:spcAft>
                <a:spcPts val="600"/>
              </a:spcAft>
              <a:defRPr sz="1000">
                <a:solidFill>
                  <a:srgbClr val="0F172A"/>
                </a:solidFill>
                <a:latin typeface="Segoe UI"/>
              </a:defRPr>
            </a:pPr>
            <a:r>
              <a:t>UC-05: Nghe thuyết minh thủ công</a:t>
            </a:r>
          </a:p>
          <a:p>
            <a:pPr>
              <a:spcAft>
                <a:spcPts val="600"/>
              </a:spcAft>
              <a:defRPr sz="1000">
                <a:solidFill>
                  <a:srgbClr val="0F172A"/>
                </a:solidFill>
                <a:latin typeface="Segoe UI"/>
              </a:defRPr>
            </a:pPr>
            <a:r>
              <a:t>UC-06: Nghe thuyết minh tự động theo tọa độ GPS</a:t>
            </a:r>
          </a:p>
          <a:p>
            <a:pPr>
              <a:spcAft>
                <a:spcPts val="600"/>
              </a:spcAft>
              <a:defRPr sz="1000">
                <a:solidFill>
                  <a:srgbClr val="0F172A"/>
                </a:solidFill>
                <a:latin typeface="Segoe UI"/>
              </a:defRPr>
            </a:pPr>
            <a:r>
              <a:t>UC-07: Lựa chọn và tùy chỉnh lộ trình</a:t>
            </a:r>
          </a:p>
          <a:p>
            <a:pPr>
              <a:spcAft>
                <a:spcPts val="600"/>
              </a:spcAft>
              <a:defRPr sz="1000">
                <a:solidFill>
                  <a:srgbClr val="0F172A"/>
                </a:solidFill>
                <a:latin typeface="Segoe UI"/>
              </a:defRPr>
            </a:pPr>
            <a:r>
              <a:t>UC-08: Hỏi đáp thông tin với trợ lý RAG</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755648"/>
            <a:ext cx="3108960" cy="365760"/>
          </a:xfrm>
          <a:prstGeom prst="rect">
            <a:avLst/>
          </a:prstGeom>
          <a:noFill/>
        </p:spPr>
        <p:txBody>
          <a:bodyPr wrap="square">
            <a:spAutoFit/>
          </a:bodyPr>
          <a:lstStyle/>
          <a:p>
            <a:pPr>
              <a:defRPr sz="1300" b="1">
                <a:solidFill>
                  <a:srgbClr val="1E3A8A"/>
                </a:solidFill>
                <a:latin typeface="Segoe UI"/>
              </a:defRPr>
            </a:pPr>
            <a:r>
              <a:t>Phân Hệ Quản Trị Vận Hành (6 Use Cases)</a:t>
            </a:r>
          </a:p>
        </p:txBody>
      </p:sp>
      <p:sp>
        <p:nvSpPr>
          <p:cNvPr id="14" name="TextBox 13"/>
          <p:cNvSpPr txBox="1"/>
          <p:nvPr/>
        </p:nvSpPr>
        <p:spPr>
          <a:xfrm>
            <a:off x="4526280" y="2194560"/>
            <a:ext cx="3108960" cy="3749039"/>
          </a:xfrm>
          <a:prstGeom prst="rect">
            <a:avLst/>
          </a:prstGeom>
          <a:noFill/>
        </p:spPr>
        <p:txBody>
          <a:bodyPr wrap="square">
            <a:spAutoFit/>
          </a:bodyPr>
          <a:lstStyle/>
          <a:p>
            <a:pPr>
              <a:spcAft>
                <a:spcPts val="600"/>
              </a:spcAft>
              <a:defRPr sz="1000">
                <a:solidFill>
                  <a:srgbClr val="0F172A"/>
                </a:solidFill>
                <a:latin typeface="Segoe UI"/>
              </a:defRPr>
            </a:pPr>
            <a:r>
              <a:t>UC-11: Xác nhận thanh toán tiền mặt và cấp mã</a:t>
            </a:r>
          </a:p>
          <a:p>
            <a:pPr>
              <a:spcAft>
                <a:spcPts val="600"/>
              </a:spcAft>
              <a:defRPr sz="1000">
                <a:solidFill>
                  <a:srgbClr val="0F172A"/>
                </a:solidFill>
                <a:latin typeface="Segoe UI"/>
              </a:defRPr>
            </a:pPr>
            <a:r>
              <a:t>UC-12: Hỗ trợ cấp lại token phiên tham quan</a:t>
            </a:r>
          </a:p>
          <a:p>
            <a:pPr>
              <a:spcAft>
                <a:spcPts val="600"/>
              </a:spcAft>
              <a:defRPr sz="1000">
                <a:solidFill>
                  <a:srgbClr val="0F172A"/>
                </a:solidFill>
                <a:latin typeface="Segoe UI"/>
              </a:defRPr>
            </a:pPr>
            <a:r>
              <a:t>UC-13: Quản lý điểm tham quan và nội dung đa ngôn ngữ</a:t>
            </a:r>
          </a:p>
          <a:p>
            <a:pPr>
              <a:spcAft>
                <a:spcPts val="600"/>
              </a:spcAft>
              <a:defRPr sz="1000">
                <a:solidFill>
                  <a:srgbClr val="0F172A"/>
                </a:solidFill>
                <a:latin typeface="Segoe UI"/>
              </a:defRPr>
            </a:pPr>
            <a:r>
              <a:t>UC-14: Quản lý và thiết lập lộ trình mẫu</a:t>
            </a:r>
          </a:p>
          <a:p>
            <a:pPr>
              <a:spcAft>
                <a:spcPts val="600"/>
              </a:spcAft>
              <a:defRPr sz="1000">
                <a:solidFill>
                  <a:srgbClr val="0F172A"/>
                </a:solidFill>
                <a:latin typeface="Segoe UI"/>
              </a:defRPr>
            </a:pPr>
            <a:r>
              <a:t>UC-15: Quản lý tài liệu và kho kiến thức hỏi đáp</a:t>
            </a:r>
          </a:p>
          <a:p>
            <a:pPr>
              <a:spcAft>
                <a:spcPts val="600"/>
              </a:spcAft>
              <a:defRPr sz="1000">
                <a:solidFill>
                  <a:srgbClr val="0F172A"/>
                </a:solidFill>
                <a:latin typeface="Segoe UI"/>
              </a:defRPr>
            </a:pPr>
            <a:r>
              <a:t>UC-18: Giám sát sức khỏe dịch vụ và thống kê sử dụng</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80" y="1755648"/>
            <a:ext cx="3108960" cy="365760"/>
          </a:xfrm>
          <a:prstGeom prst="rect">
            <a:avLst/>
          </a:prstGeom>
          <a:noFill/>
        </p:spPr>
        <p:txBody>
          <a:bodyPr wrap="square">
            <a:spAutoFit/>
          </a:bodyPr>
          <a:lstStyle/>
          <a:p>
            <a:pPr>
              <a:defRPr sz="1300" b="1">
                <a:solidFill>
                  <a:srgbClr val="1E3A8A"/>
                </a:solidFill>
                <a:latin typeface="Segoe UI"/>
              </a:defRPr>
            </a:pPr>
            <a:r>
              <a:t>Phân Hệ Xác Thực &amp; Bảo Mật (4 Use Cases)</a:t>
            </a:r>
          </a:p>
        </p:txBody>
      </p:sp>
      <p:sp>
        <p:nvSpPr>
          <p:cNvPr id="17" name="TextBox 16"/>
          <p:cNvSpPr txBox="1"/>
          <p:nvPr/>
        </p:nvSpPr>
        <p:spPr>
          <a:xfrm>
            <a:off x="8183880" y="2194560"/>
            <a:ext cx="3108960" cy="3749039"/>
          </a:xfrm>
          <a:prstGeom prst="rect">
            <a:avLst/>
          </a:prstGeom>
          <a:noFill/>
        </p:spPr>
        <p:txBody>
          <a:bodyPr wrap="square">
            <a:spAutoFit/>
          </a:bodyPr>
          <a:lstStyle/>
          <a:p>
            <a:pPr>
              <a:spcAft>
                <a:spcPts val="600"/>
              </a:spcAft>
              <a:defRPr sz="1000">
                <a:solidFill>
                  <a:srgbClr val="0F172A"/>
                </a:solidFill>
                <a:latin typeface="Segoe UI"/>
              </a:defRPr>
            </a:pPr>
            <a:r>
              <a:t>UC-09: Đăng nhập nội bộ nhân viên và quản trị</a:t>
            </a:r>
          </a:p>
          <a:p>
            <a:pPr>
              <a:spcAft>
                <a:spcPts val="600"/>
              </a:spcAft>
              <a:defRPr sz="1000">
                <a:solidFill>
                  <a:srgbClr val="0F172A"/>
                </a:solidFill>
                <a:latin typeface="Segoe UI"/>
              </a:defRPr>
            </a:pPr>
            <a:r>
              <a:t>UC-10: Đăng xuất an toàn và hủy phiên truy cập</a:t>
            </a:r>
          </a:p>
          <a:p>
            <a:pPr>
              <a:spcAft>
                <a:spcPts val="600"/>
              </a:spcAft>
              <a:defRPr sz="1000">
                <a:solidFill>
                  <a:srgbClr val="0F172A"/>
                </a:solidFill>
                <a:latin typeface="Segoe UI"/>
              </a:defRPr>
            </a:pPr>
            <a:r>
              <a:t>UC-16: Quản trị viên khởi tạo tài khoản nhân viên</a:t>
            </a:r>
          </a:p>
          <a:p>
            <a:pPr>
              <a:spcAft>
                <a:spcPts val="600"/>
              </a:spcAft>
              <a:defRPr sz="1000">
                <a:solidFill>
                  <a:srgbClr val="0F172A"/>
                </a:solidFill>
                <a:latin typeface="Segoe UI"/>
              </a:defRPr>
            </a:pPr>
            <a:r>
              <a:t>UC-17: Tra cứu và kiểm tra nhật ký kiểm toán hệ thống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Đặc Tả Chi Tiết: Thanh Toán Và Xem Bản Đồ</a:t>
            </a:r>
          </a:p>
          <a:p>
            <a:pPr>
              <a:defRPr sz="1200">
                <a:solidFill>
                  <a:srgbClr val="64748B"/>
                </a:solidFill>
                <a:latin typeface="Segoe UI"/>
              </a:defRPr>
            </a:pPr>
            <a:r>
              <a:t>Trình bày luồng xử lý và chèn sơ đồ Use Case UC-03 Xem bản đồ và điểm tham quan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14 / 24</a:t>
            </a:r>
          </a:p>
        </p:txBody>
      </p:sp>
      <p:sp>
        <p:nvSpPr>
          <p:cNvPr id="9" name="Rounded Rectangle 8"/>
          <p:cNvSpPr/>
          <p:nvPr/>
        </p:nvSpPr>
        <p:spPr>
          <a:xfrm>
            <a:off x="731520" y="1645920"/>
            <a:ext cx="530352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5029200" cy="365760"/>
          </a:xfrm>
          <a:prstGeom prst="rect">
            <a:avLst/>
          </a:prstGeom>
          <a:noFill/>
        </p:spPr>
        <p:txBody>
          <a:bodyPr wrap="square">
            <a:spAutoFit/>
          </a:bodyPr>
          <a:lstStyle/>
          <a:p>
            <a:pPr>
              <a:defRPr sz="1300" b="1">
                <a:solidFill>
                  <a:srgbClr val="1E3A8A"/>
                </a:solidFill>
                <a:latin typeface="Segoe UI"/>
              </a:defRPr>
            </a:pPr>
            <a:r>
              <a:t>Luồng Xử Lý Thanh Toán (UC-01 &amp; UC-02)</a:t>
            </a:r>
          </a:p>
        </p:txBody>
      </p:sp>
      <p:sp>
        <p:nvSpPr>
          <p:cNvPr id="11" name="TextBox 10"/>
          <p:cNvSpPr txBox="1"/>
          <p:nvPr/>
        </p:nvSpPr>
        <p:spPr>
          <a:xfrm>
            <a:off x="914400" y="2194560"/>
            <a:ext cx="4937760" cy="3749039"/>
          </a:xfrm>
          <a:prstGeom prst="rect">
            <a:avLst/>
          </a:prstGeom>
          <a:noFill/>
        </p:spPr>
        <p:txBody>
          <a:bodyPr wrap="square">
            <a:spAutoFit/>
          </a:bodyPr>
          <a:lstStyle/>
          <a:p>
            <a:pPr>
              <a:defRPr sz="1100" b="1">
                <a:solidFill>
                  <a:srgbClr val="1E3A8A"/>
                </a:solidFill>
              </a:defRPr>
            </a:pPr>
            <a:r>
              <a:t>1. Khởi tạo phiên</a:t>
            </a:r>
          </a:p>
          <a:p>
            <a:pPr>
              <a:spcAft>
                <a:spcPts val="400"/>
              </a:spcAft>
              <a:defRPr sz="1000">
                <a:solidFill>
                  <a:srgbClr val="0F172A"/>
                </a:solidFill>
              </a:defRPr>
            </a:pPr>
            <a:r>
              <a:t>Khách chọn hình thức trả phí. Hệ thống tạo phiên tham quan ở trạng thái chờ xác nhận.</a:t>
            </a:r>
          </a:p>
          <a:p>
            <a:pPr>
              <a:defRPr sz="1100" b="1">
                <a:solidFill>
                  <a:srgbClr val="1E3A8A"/>
                </a:solidFill>
              </a:defRPr>
            </a:pPr>
            <a:r>
              <a:t>2. Thanh toán trực tuyến (UC-01)</a:t>
            </a:r>
          </a:p>
          <a:p>
            <a:pPr>
              <a:spcAft>
                <a:spcPts val="400"/>
              </a:spcAft>
              <a:defRPr sz="1000">
                <a:solidFill>
                  <a:srgbClr val="0F172A"/>
                </a:solidFill>
              </a:defRPr>
            </a:pPr>
            <a:r>
              <a:t>Khách thanh toán qua cổng; cổng gửi webhook. Máy chủ xác minh chữ ký và chuyển trạng thái sang đã thanh toán.</a:t>
            </a:r>
          </a:p>
          <a:p>
            <a:pPr>
              <a:defRPr sz="1100" b="1">
                <a:solidFill>
                  <a:srgbClr val="1E3A8A"/>
                </a:solidFill>
              </a:defRPr>
            </a:pPr>
            <a:r>
              <a:t>3. Thanh toán tiền mặt (UC-02)</a:t>
            </a:r>
          </a:p>
          <a:p>
            <a:pPr>
              <a:spcAft>
                <a:spcPts val="400"/>
              </a:spcAft>
              <a:defRPr sz="1000">
                <a:solidFill>
                  <a:srgbClr val="0F172A"/>
                </a:solidFill>
              </a:defRPr>
            </a:pPr>
            <a:r>
              <a:t>Khách đưa tiền cho nhân viên; nhân viên bấm xác nhận; máy chủ tạo mã ngắn 6 ký tự lưu trên Redis.</a:t>
            </a:r>
          </a:p>
          <a:p>
            <a:pPr>
              <a:defRPr sz="1100" b="1">
                <a:solidFill>
                  <a:srgbClr val="1E3A8A"/>
                </a:solidFill>
              </a:defRPr>
            </a:pPr>
            <a:r>
              <a:t>4. Đổi mã lấy Token</a:t>
            </a:r>
          </a:p>
          <a:p>
            <a:pPr>
              <a:spcAft>
                <a:spcPts val="400"/>
              </a:spcAft>
              <a:defRPr sz="1000">
                <a:solidFill>
                  <a:srgbClr val="0F172A"/>
                </a:solidFill>
              </a:defRPr>
            </a:pPr>
            <a:r>
              <a:t>Khách nhập mã ngắn; máy chủ kiểm tra Redis, đánh dấu đã dùng và cấp token JWT phiên tham quan.</a:t>
            </a:r>
          </a:p>
          <a:p>
            <a:pPr>
              <a:defRPr sz="1100" b="1">
                <a:solidFill>
                  <a:srgbClr val="1E3A8A"/>
                </a:solidFill>
              </a:defRPr>
            </a:pPr>
            <a:r>
              <a:t>5. Bắt đầu phiên tham quan</a:t>
            </a:r>
          </a:p>
          <a:p>
            <a:pPr>
              <a:spcAft>
                <a:spcPts val="400"/>
              </a:spcAft>
              <a:defRPr sz="1000">
                <a:solidFill>
                  <a:srgbClr val="0F172A"/>
                </a:solidFill>
              </a:defRPr>
            </a:pPr>
            <a:r>
              <a:t>Token được lưu tại trình duyệt; các yêu cầu sau đó sử dụng token này để lấy dữ liệu di tích.</a:t>
            </a:r>
          </a:p>
        </p:txBody>
      </p:sp>
      <p:sp>
        <p:nvSpPr>
          <p:cNvPr id="12" name="Rounded Rectangle 11"/>
          <p:cNvSpPr/>
          <p:nvPr/>
        </p:nvSpPr>
        <p:spPr>
          <a:xfrm>
            <a:off x="6309360" y="1645920"/>
            <a:ext cx="512064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755648"/>
            <a:ext cx="4846320" cy="365760"/>
          </a:xfrm>
          <a:prstGeom prst="rect">
            <a:avLst/>
          </a:prstGeom>
          <a:noFill/>
        </p:spPr>
        <p:txBody>
          <a:bodyPr wrap="square">
            <a:spAutoFit/>
          </a:bodyPr>
          <a:lstStyle/>
          <a:p>
            <a:pPr>
              <a:defRPr sz="1300" b="1">
                <a:solidFill>
                  <a:srgbClr val="1E3A8A"/>
                </a:solidFill>
                <a:latin typeface="Segoe UI"/>
              </a:defRPr>
            </a:pPr>
            <a:r>
              <a:t>Sơ Đồ Use Case UC-03</a:t>
            </a:r>
          </a:p>
        </p:txBody>
      </p:sp>
      <p:pic>
        <p:nvPicPr>
          <p:cNvPr id="14" name="Picture 13" descr="UC-03_Use-Case.png"/>
          <p:cNvPicPr>
            <a:picLocks noChangeAspect="1"/>
          </p:cNvPicPr>
          <p:nvPr/>
        </p:nvPicPr>
        <p:blipFill>
          <a:blip r:embed="rId2"/>
          <a:stretch>
            <a:fillRect/>
          </a:stretch>
        </p:blipFill>
        <p:spPr>
          <a:xfrm>
            <a:off x="6492240" y="2286000"/>
            <a:ext cx="4754880" cy="1743456"/>
          </a:xfrm>
          <a:prstGeom prst="rect">
            <a:avLst/>
          </a:prstGeom>
        </p:spPr>
      </p:pic>
      <p:sp>
        <p:nvSpPr>
          <p:cNvPr id="15" name="TextBox 14"/>
          <p:cNvSpPr txBox="1"/>
          <p:nvPr/>
        </p:nvSpPr>
        <p:spPr>
          <a:xfrm>
            <a:off x="6492240" y="4754880"/>
            <a:ext cx="4754880" cy="1097280"/>
          </a:xfrm>
          <a:prstGeom prst="rect">
            <a:avLst/>
          </a:prstGeom>
          <a:noFill/>
        </p:spPr>
        <p:txBody>
          <a:bodyPr wrap="square">
            <a:spAutoFit/>
          </a:bodyPr>
          <a:lstStyle/>
          <a:p>
            <a:pPr>
              <a:defRPr sz="1000">
                <a:solidFill>
                  <a:srgbClr val="64748B"/>
                </a:solidFill>
              </a:defRPr>
            </a:pPr>
            <a:r>
              <a:t>Sơ đồ tương tác UC-03: Khách tham quan tải gói dữ liệu bundle, cấp quyền GPS thiết bị và tương tác chọn điểm tham quan trên bản đồ Leaflet.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Sơ Đồ Hoạt Động Thuyết Minh Tự Động (UC-06)</a:t>
            </a:r>
          </a:p>
          <a:p>
            <a:pPr>
              <a:defRPr sz="1200">
                <a:solidFill>
                  <a:srgbClr val="64748B"/>
                </a:solidFill>
                <a:latin typeface="Segoe UI"/>
              </a:defRPr>
            </a:pPr>
            <a:r>
              <a:t>Quy trình tính toán khoảng cách GPS và thuật toán kích hoạt âm thanh chống phát lặp</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15 / 24</a:t>
            </a:r>
          </a:p>
        </p:txBody>
      </p:sp>
      <p:pic>
        <p:nvPicPr>
          <p:cNvPr id="9" name="Picture 8" descr="UC-06_Activity.png"/>
          <p:cNvPicPr>
            <a:picLocks noChangeAspect="1"/>
          </p:cNvPicPr>
          <p:nvPr/>
        </p:nvPicPr>
        <p:blipFill>
          <a:blip r:embed="rId2"/>
          <a:stretch>
            <a:fillRect/>
          </a:stretch>
        </p:blipFill>
        <p:spPr>
          <a:xfrm>
            <a:off x="731520" y="1645920"/>
            <a:ext cx="3078058" cy="4480560"/>
          </a:xfrm>
          <a:prstGeom prst="rect">
            <a:avLst/>
          </a:prstGeom>
        </p:spPr>
      </p:pic>
      <p:sp>
        <p:nvSpPr>
          <p:cNvPr id="10" name="Rounded Rectangle 9"/>
          <p:cNvSpPr/>
          <p:nvPr/>
        </p:nvSpPr>
        <p:spPr>
          <a:xfrm>
            <a:off x="4572000" y="1645920"/>
            <a:ext cx="68580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1755648"/>
            <a:ext cx="6583680" cy="365760"/>
          </a:xfrm>
          <a:prstGeom prst="rect">
            <a:avLst/>
          </a:prstGeom>
          <a:noFill/>
        </p:spPr>
        <p:txBody>
          <a:bodyPr wrap="square">
            <a:spAutoFit/>
          </a:bodyPr>
          <a:lstStyle/>
          <a:p>
            <a:pPr>
              <a:defRPr sz="1300" b="1">
                <a:solidFill>
                  <a:srgbClr val="1E3A8A"/>
                </a:solidFill>
                <a:latin typeface="Segoe UI"/>
              </a:defRPr>
            </a:pPr>
            <a:r>
              <a:t>Thuật Toán Kích Hoạt Âm Thanh Tọa Độ GPS</a:t>
            </a:r>
          </a:p>
        </p:txBody>
      </p:sp>
      <p:sp>
        <p:nvSpPr>
          <p:cNvPr id="12" name="TextBox 11"/>
          <p:cNvSpPr txBox="1"/>
          <p:nvPr/>
        </p:nvSpPr>
        <p:spPr>
          <a:xfrm>
            <a:off x="4754880" y="2194560"/>
            <a:ext cx="6492240" cy="3749039"/>
          </a:xfrm>
          <a:prstGeom prst="rect">
            <a:avLst/>
          </a:prstGeom>
          <a:noFill/>
        </p:spPr>
        <p:txBody>
          <a:bodyPr wrap="square">
            <a:spAutoFit/>
          </a:bodyPr>
          <a:lstStyle/>
          <a:p>
            <a:pPr>
              <a:spcAft>
                <a:spcPts val="400"/>
              </a:spcAft>
              <a:defRPr sz="1050" b="1">
                <a:solidFill>
                  <a:srgbClr val="1E3A8A"/>
                </a:solidFill>
              </a:defRPr>
            </a:pPr>
            <a:r>
              <a:t>• Kích hoạt phiên tham quan: </a:t>
            </a:r>
            <a:r>
              <a:rPr b="0">
                <a:solidFill>
                  <a:srgbClr val="0F172A"/>
                </a:solidFill>
              </a:rPr>
              <a:t>Khách bấm nút 'Bắt đầu tham quan' trên giao diện nhằm mở khóa chính sách phát âm thanh tự động của trình duyệt di động.</a:t>
            </a:r>
          </a:p>
          <a:p>
            <a:pPr>
              <a:spcAft>
                <a:spcPts val="400"/>
              </a:spcAft>
              <a:defRPr sz="1050" b="1">
                <a:solidFill>
                  <a:srgbClr val="1E3A8A"/>
                </a:solidFill>
              </a:defRPr>
            </a:pPr>
            <a:r>
              <a:t>• Lắng nghe vị trí thiết bị: </a:t>
            </a:r>
            <a:r>
              <a:rPr b="0">
                <a:solidFill>
                  <a:srgbClr val="0F172A"/>
                </a:solidFill>
              </a:rPr>
              <a:t>Hàm navigator.geolocation.watchPosition liên tục nhận tọa độ vĩ độ và kinh độ mới của du khách.</a:t>
            </a:r>
          </a:p>
          <a:p>
            <a:pPr>
              <a:spcAft>
                <a:spcPts val="400"/>
              </a:spcAft>
              <a:defRPr sz="1050" b="1">
                <a:solidFill>
                  <a:srgbClr val="1E3A8A"/>
                </a:solidFill>
              </a:defRPr>
            </a:pPr>
            <a:r>
              <a:t>• Tính khoảng cách Haversine: </a:t>
            </a:r>
            <a:r>
              <a:rPr b="0">
                <a:solidFill>
                  <a:srgbClr val="0F172A"/>
                </a:solidFill>
              </a:rPr>
              <a:t>Giao diện dùng công thức Haversine tính toán khoảng cách giữa vị trí hiện tại với tất cả các điểm di tích trong gói bundle.</a:t>
            </a:r>
          </a:p>
          <a:p>
            <a:pPr>
              <a:spcAft>
                <a:spcPts val="400"/>
              </a:spcAft>
              <a:defRPr sz="1050" b="1">
                <a:solidFill>
                  <a:srgbClr val="1E3A8A"/>
                </a:solidFill>
              </a:defRPr>
            </a:pPr>
            <a:r>
              <a:t>• Kiểm tra bán kính 50 mét: </a:t>
            </a:r>
            <a:r>
              <a:rPr b="0">
                <a:solidFill>
                  <a:srgbClr val="0F172A"/>
                </a:solidFill>
              </a:rPr>
              <a:t>Lọc các điểm có khoảng cách nhỏ hơn hoặc bằng 50m. Nếu có nhiều điểm thỏa mãn, ưu tiên chọn điểm gần nhất.</a:t>
            </a:r>
          </a:p>
          <a:p>
            <a:pPr>
              <a:spcAft>
                <a:spcPts val="400"/>
              </a:spcAft>
              <a:defRPr sz="1050" b="1">
                <a:solidFill>
                  <a:srgbClr val="1E3A8A"/>
                </a:solidFill>
              </a:defRPr>
            </a:pPr>
            <a:r>
              <a:t>• Kiểm tra trạng thái phát: </a:t>
            </a:r>
            <a:r>
              <a:rPr b="0">
                <a:solidFill>
                  <a:srgbClr val="0F172A"/>
                </a:solidFill>
              </a:rPr>
              <a:t>Nếu điểm chưa được phát trong lượt này và không có âm thanh khác đang chạy, tiến hành phát audio.</a:t>
            </a:r>
          </a:p>
          <a:p>
            <a:pPr>
              <a:spcAft>
                <a:spcPts val="400"/>
              </a:spcAft>
              <a:defRPr sz="1050" b="1">
                <a:solidFill>
                  <a:srgbClr val="1E3A8A"/>
                </a:solidFill>
              </a:defRPr>
            </a:pPr>
            <a:r>
              <a:t>• Ngưỡng rời vùng 75 mét: </a:t>
            </a:r>
            <a:r>
              <a:rPr b="0">
                <a:solidFill>
                  <a:srgbClr val="0F172A"/>
                </a:solidFill>
              </a:rPr>
              <a:t>Sau khi đã phát, chỉ đặt lại trạng thái để phát lại khi khách di chuyển ra xa hơn 75m (1.5 lần bán kính kích hoạt) rồi quay lại.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Đa Ngôn Ngữ Và Trợ Lý Hỏi Đáp (UC-04 &amp; UC-08)</a:t>
            </a:r>
          </a:p>
          <a:p>
            <a:pPr>
              <a:defRPr sz="1200">
                <a:solidFill>
                  <a:srgbClr val="64748B"/>
                </a:solidFill>
                <a:latin typeface="Segoe UI"/>
              </a:defRPr>
            </a:pPr>
            <a:r>
              <a:t>Cơ chế phân phối gói dữ liệu độc lập và quy trình xử lý câu hỏi có kiểm chứng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16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UC-04: Tải Gói Dữ Liệu Theo Ngôn Ngữ</a:t>
            </a:r>
          </a:p>
        </p:txBody>
      </p:sp>
      <p:pic>
        <p:nvPicPr>
          <p:cNvPr id="11" name="Picture 10" descr="UC-04_Use-Case.png"/>
          <p:cNvPicPr>
            <a:picLocks noChangeAspect="1"/>
          </p:cNvPicPr>
          <p:nvPr/>
        </p:nvPicPr>
        <p:blipFill>
          <a:blip r:embed="rId2"/>
          <a:stretch>
            <a:fillRect/>
          </a:stretch>
        </p:blipFill>
        <p:spPr>
          <a:xfrm>
            <a:off x="914400" y="2194560"/>
            <a:ext cx="4846320" cy="1997317"/>
          </a:xfrm>
          <a:prstGeom prst="rect">
            <a:avLst/>
          </a:prstGeom>
        </p:spPr>
      </p:pic>
      <p:sp>
        <p:nvSpPr>
          <p:cNvPr id="12" name="TextBox 11"/>
          <p:cNvSpPr txBox="1"/>
          <p:nvPr/>
        </p:nvSpPr>
        <p:spPr>
          <a:xfrm>
            <a:off x="914400" y="4114800"/>
            <a:ext cx="4846320" cy="1828800"/>
          </a:xfrm>
          <a:prstGeom prst="rect">
            <a:avLst/>
          </a:prstGeom>
          <a:noFill/>
        </p:spPr>
        <p:txBody>
          <a:bodyPr wrap="square">
            <a:spAutoFit/>
          </a:bodyPr>
          <a:lstStyle/>
          <a:p>
            <a:pPr>
              <a:spcAft>
                <a:spcPts val="300"/>
              </a:spcAft>
              <a:defRPr sz="1000">
                <a:solidFill>
                  <a:srgbClr val="0F172A"/>
                </a:solidFill>
              </a:defRPr>
            </a:pPr>
            <a:r>
              <a:t>• Du khách chọn ngôn ngữ mong muốn từ menu góc phải.</a:t>
            </a:r>
          </a:p>
          <a:p>
            <a:pPr>
              <a:spcAft>
                <a:spcPts val="300"/>
              </a:spcAft>
              <a:defRPr sz="1000">
                <a:solidFill>
                  <a:srgbClr val="0F172A"/>
                </a:solidFill>
              </a:defRPr>
            </a:pPr>
            <a:r>
              <a:t>• Máy chủ kiểm tra phiên vé và đóng gói toàn bộ POI, bản dịch và đường dẫn audio tương ứng.</a:t>
            </a:r>
          </a:p>
          <a:p>
            <a:pPr>
              <a:spcAft>
                <a:spcPts val="300"/>
              </a:spcAft>
              <a:defRPr sz="1000">
                <a:solidFill>
                  <a:srgbClr val="0F172A"/>
                </a:solidFill>
              </a:defRPr>
            </a:pPr>
            <a:r>
              <a:t>• Nếu thiếu dữ liệu ngôn ngữ yêu cầu, tự động áp dụng cơ chế chuyển đổi dự phòng sang tiếng Anh hoặc tiếng Việt.</a:t>
            </a:r>
          </a:p>
        </p:txBody>
      </p:sp>
      <p:sp>
        <p:nvSpPr>
          <p:cNvPr id="13" name="Rounded Rectangle 12"/>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UC-08: Hỏi Đáp Bằng Trí Tuệ Nhân Tạo RAG</a:t>
            </a:r>
          </a:p>
        </p:txBody>
      </p:sp>
      <p:pic>
        <p:nvPicPr>
          <p:cNvPr id="15" name="Picture 14" descr="UC-08_Use-Case.png"/>
          <p:cNvPicPr>
            <a:picLocks noChangeAspect="1"/>
          </p:cNvPicPr>
          <p:nvPr/>
        </p:nvPicPr>
        <p:blipFill>
          <a:blip r:embed="rId3"/>
          <a:stretch>
            <a:fillRect/>
          </a:stretch>
        </p:blipFill>
        <p:spPr>
          <a:xfrm>
            <a:off x="6400800" y="2194560"/>
            <a:ext cx="4846320" cy="1647453"/>
          </a:xfrm>
          <a:prstGeom prst="rect">
            <a:avLst/>
          </a:prstGeom>
        </p:spPr>
      </p:pic>
      <p:sp>
        <p:nvSpPr>
          <p:cNvPr id="16" name="TextBox 15"/>
          <p:cNvSpPr txBox="1"/>
          <p:nvPr/>
        </p:nvSpPr>
        <p:spPr>
          <a:xfrm>
            <a:off x="6400800" y="4114800"/>
            <a:ext cx="4846320" cy="1828800"/>
          </a:xfrm>
          <a:prstGeom prst="rect">
            <a:avLst/>
          </a:prstGeom>
          <a:noFill/>
        </p:spPr>
        <p:txBody>
          <a:bodyPr wrap="square">
            <a:spAutoFit/>
          </a:bodyPr>
          <a:lstStyle/>
          <a:p>
            <a:pPr>
              <a:spcAft>
                <a:spcPts val="300"/>
              </a:spcAft>
              <a:defRPr sz="1000">
                <a:solidFill>
                  <a:srgbClr val="0F172A"/>
                </a:solidFill>
              </a:defRPr>
            </a:pPr>
            <a:r>
              <a:t>• Khách gửi câu hỏi; máy chủ chuyển câu hỏi thành vector biểu diễn ngữ nghĩa.</a:t>
            </a:r>
          </a:p>
          <a:p>
            <a:pPr>
              <a:spcAft>
                <a:spcPts val="300"/>
              </a:spcAft>
              <a:defRPr sz="1000">
                <a:solidFill>
                  <a:srgbClr val="0F172A"/>
                </a:solidFill>
              </a:defRPr>
            </a:pPr>
            <a:r>
              <a:t>• Hệ thống tìm kiếm các đoạn tài liệu tương đồng nhất trong kho kiến thức Chùa Linh Ứng.</a:t>
            </a:r>
          </a:p>
          <a:p>
            <a:pPr>
              <a:spcAft>
                <a:spcPts val="300"/>
              </a:spcAft>
              <a:defRPr sz="1000">
                <a:solidFill>
                  <a:srgbClr val="0F172A"/>
                </a:solidFill>
              </a:defRPr>
            </a:pPr>
            <a:r>
              <a:t>• Mô hình ngôn ngữ tổng hợp câu trả lời kèm theo trích dẫn nguồn văn bản xác thực.</a:t>
            </a:r>
          </a:p>
          <a:p>
            <a:pPr>
              <a:spcAft>
                <a:spcPts val="300"/>
              </a:spcAft>
              <a:defRPr sz="1000">
                <a:solidFill>
                  <a:srgbClr val="0F172A"/>
                </a:solidFill>
              </a:defRPr>
            </a:pPr>
            <a:r>
              <a:t>• Tuyệt đối từ chối trả lời nếu câu hỏi nằm ngoài phạm vi kiến thức được duyệt.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3: PHÂN TÍCH</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Đặc Tả Phân Hệ Quản Trị Và Vận Hành</a:t>
            </a:r>
          </a:p>
          <a:p>
            <a:pPr>
              <a:defRPr sz="1200">
                <a:solidFill>
                  <a:srgbClr val="64748B"/>
                </a:solidFill>
                <a:latin typeface="Segoe UI"/>
              </a:defRPr>
            </a:pPr>
            <a:r>
              <a:t>Quy trình xác thực nội bộ, quản trị điểm tham quan và theo dõi hoạt động</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17 / 24</a:t>
            </a:r>
          </a:p>
        </p:txBody>
      </p:sp>
      <p:sp>
        <p:nvSpPr>
          <p:cNvPr id="9" name="Rounded Rectangle 8"/>
          <p:cNvSpPr/>
          <p:nvPr/>
        </p:nvSpPr>
        <p:spPr>
          <a:xfrm>
            <a:off x="7315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Xác Thực &amp; Quản Lý Phiên (UC-09, 10, 16)</a:t>
            </a:r>
          </a:p>
        </p:txBody>
      </p:sp>
      <p:sp>
        <p:nvSpPr>
          <p:cNvPr id="11" name="TextBox 10"/>
          <p:cNvSpPr txBox="1"/>
          <p:nvPr/>
        </p:nvSpPr>
        <p:spPr>
          <a:xfrm>
            <a:off x="868680" y="2148840"/>
            <a:ext cx="4937760" cy="1508760"/>
          </a:xfrm>
          <a:prstGeom prst="rect">
            <a:avLst/>
          </a:prstGeom>
          <a:noFill/>
        </p:spPr>
        <p:txBody>
          <a:bodyPr wrap="square">
            <a:spAutoFit/>
          </a:bodyPr>
          <a:lstStyle/>
          <a:p>
            <a:pPr>
              <a:spcAft>
                <a:spcPts val="200"/>
              </a:spcAft>
              <a:defRPr sz="950">
                <a:solidFill>
                  <a:srgbClr val="0F172A"/>
                </a:solidFill>
              </a:defRPr>
            </a:pPr>
            <a:r>
              <a:t>• Chỉ có 2 vai trò nội bộ: Nhân viên (STAFF) và Quản trị viên (ADMIN).</a:t>
            </a:r>
          </a:p>
          <a:p>
            <a:pPr>
              <a:spcAft>
                <a:spcPts val="200"/>
              </a:spcAft>
              <a:defRPr sz="950">
                <a:solidFill>
                  <a:srgbClr val="0F172A"/>
                </a:solidFill>
              </a:defRPr>
            </a:pPr>
            <a:r>
              <a:t>• Chỉ có ADMIN mới có quyền tạo tài khoản STAFF; không mở đăng ký tự do.</a:t>
            </a:r>
          </a:p>
          <a:p>
            <a:pPr>
              <a:spcAft>
                <a:spcPts val="200"/>
              </a:spcAft>
              <a:defRPr sz="950">
                <a:solidFill>
                  <a:srgbClr val="0F172A"/>
                </a:solidFill>
              </a:defRPr>
            </a:pPr>
            <a:r>
              <a:t>• Khóa tài khoản 15 phút sau 5 lần nhập sai; xoay vòng refresh token bảo mật.</a:t>
            </a:r>
          </a:p>
          <a:p>
            <a:pPr>
              <a:spcAft>
                <a:spcPts val="200"/>
              </a:spcAft>
              <a:defRPr sz="950">
                <a:solidFill>
                  <a:srgbClr val="0F172A"/>
                </a:solidFill>
              </a:defRPr>
            </a:pPr>
            <a:r>
              <a:t>• Đăng xuất an toàn lập tức hủy token và vô hiệu hóa phiên làm việc.</a:t>
            </a:r>
          </a:p>
        </p:txBody>
      </p:sp>
      <p:sp>
        <p:nvSpPr>
          <p:cNvPr id="12" name="Rounded Rectangle 11"/>
          <p:cNvSpPr/>
          <p:nvPr/>
        </p:nvSpPr>
        <p:spPr>
          <a:xfrm>
            <a:off x="6217920" y="1645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Quản Trị Dữ Liệu Tham Quan (UC-13, 14)</a:t>
            </a:r>
          </a:p>
        </p:txBody>
      </p:sp>
      <p:sp>
        <p:nvSpPr>
          <p:cNvPr id="14" name="TextBox 13"/>
          <p:cNvSpPr txBox="1"/>
          <p:nvPr/>
        </p:nvSpPr>
        <p:spPr>
          <a:xfrm>
            <a:off x="6355080" y="2148840"/>
            <a:ext cx="4937760" cy="1508760"/>
          </a:xfrm>
          <a:prstGeom prst="rect">
            <a:avLst/>
          </a:prstGeom>
          <a:noFill/>
        </p:spPr>
        <p:txBody>
          <a:bodyPr wrap="square">
            <a:spAutoFit/>
          </a:bodyPr>
          <a:lstStyle/>
          <a:p>
            <a:pPr>
              <a:spcAft>
                <a:spcPts val="200"/>
              </a:spcAft>
              <a:defRPr sz="950">
                <a:solidFill>
                  <a:srgbClr val="0F172A"/>
                </a:solidFill>
              </a:defRPr>
            </a:pPr>
            <a:r>
              <a:t>• STAFF và ADMIN tạo mới, cập nhật tọa độ, bán kính và nội dung đọc của POI.</a:t>
            </a:r>
          </a:p>
          <a:p>
            <a:pPr>
              <a:spcAft>
                <a:spcPts val="200"/>
              </a:spcAft>
              <a:defRPr sz="950">
                <a:solidFill>
                  <a:srgbClr val="0F172A"/>
                </a:solidFill>
              </a:defRPr>
            </a:pPr>
            <a:r>
              <a:t>• Lưu nội dung tiếng Việt tự động kích hoạt tiến trình dịch và sinh âm thanh.</a:t>
            </a:r>
          </a:p>
          <a:p>
            <a:pPr>
              <a:spcAft>
                <a:spcPts val="200"/>
              </a:spcAft>
              <a:defRPr sz="950">
                <a:solidFill>
                  <a:srgbClr val="0F172A"/>
                </a:solidFill>
              </a:defRPr>
            </a:pPr>
            <a:r>
              <a:t>• Thiết lập danh sách và thứ tự các điểm tham quan trong tour mẫu.</a:t>
            </a:r>
          </a:p>
          <a:p>
            <a:pPr>
              <a:spcAft>
                <a:spcPts val="200"/>
              </a:spcAft>
              <a:defRPr sz="950">
                <a:solidFill>
                  <a:srgbClr val="0F172A"/>
                </a:solidFill>
              </a:defRPr>
            </a:pPr>
            <a:r>
              <a:t>• Ẩn điểm di tích khi cần bảo trì; điểm bị ẩn không xuất hiện trong bundle.</a:t>
            </a:r>
          </a:p>
        </p:txBody>
      </p:sp>
      <p:sp>
        <p:nvSpPr>
          <p:cNvPr id="15" name="Rounded Rectangle 14"/>
          <p:cNvSpPr/>
          <p:nvPr/>
        </p:nvSpPr>
        <p:spPr>
          <a:xfrm>
            <a:off x="7315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041648"/>
            <a:ext cx="4937760" cy="365760"/>
          </a:xfrm>
          <a:prstGeom prst="rect">
            <a:avLst/>
          </a:prstGeom>
          <a:noFill/>
        </p:spPr>
        <p:txBody>
          <a:bodyPr wrap="square">
            <a:spAutoFit/>
          </a:bodyPr>
          <a:lstStyle/>
          <a:p>
            <a:pPr>
              <a:defRPr sz="1300" b="1">
                <a:solidFill>
                  <a:srgbClr val="1E3A8A"/>
                </a:solidFill>
                <a:latin typeface="Segoe UI"/>
              </a:defRPr>
            </a:pPr>
            <a:r>
              <a:t>Quản Lý Kho Tri Thức (UC-15)</a:t>
            </a:r>
          </a:p>
        </p:txBody>
      </p:sp>
      <p:sp>
        <p:nvSpPr>
          <p:cNvPr id="17" name="TextBox 16"/>
          <p:cNvSpPr txBox="1"/>
          <p:nvPr/>
        </p:nvSpPr>
        <p:spPr>
          <a:xfrm>
            <a:off x="868680" y="4434840"/>
            <a:ext cx="4937760" cy="1508760"/>
          </a:xfrm>
          <a:prstGeom prst="rect">
            <a:avLst/>
          </a:prstGeom>
          <a:noFill/>
        </p:spPr>
        <p:txBody>
          <a:bodyPr wrap="square">
            <a:spAutoFit/>
          </a:bodyPr>
          <a:lstStyle/>
          <a:p>
            <a:pPr>
              <a:spcAft>
                <a:spcPts val="200"/>
              </a:spcAft>
              <a:defRPr sz="950">
                <a:solidFill>
                  <a:srgbClr val="0F172A"/>
                </a:solidFill>
              </a:defRPr>
            </a:pPr>
            <a:r>
              <a:t>• Cập nhật tài liệu văn hóa lịch sử chính thống về Chùa Linh Ứng.</a:t>
            </a:r>
          </a:p>
          <a:p>
            <a:pPr>
              <a:spcAft>
                <a:spcPts val="200"/>
              </a:spcAft>
              <a:defRPr sz="950">
                <a:solidFill>
                  <a:srgbClr val="0F172A"/>
                </a:solidFill>
              </a:defRPr>
            </a:pPr>
            <a:r>
              <a:t>• Hệ thống tự động phân tách tài liệu thành các đoạn văn bản có kích thước chuẩn.</a:t>
            </a:r>
          </a:p>
          <a:p>
            <a:pPr>
              <a:spcAft>
                <a:spcPts val="200"/>
              </a:spcAft>
              <a:defRPr sz="950">
                <a:solidFill>
                  <a:srgbClr val="0F172A"/>
                </a:solidFill>
              </a:defRPr>
            </a:pPr>
            <a:r>
              <a:t>• Tạo vector nhúng và cập nhật chỉ mục tìm kiếm phục vụ trợ lý RAG.</a:t>
            </a:r>
          </a:p>
          <a:p>
            <a:pPr>
              <a:spcAft>
                <a:spcPts val="200"/>
              </a:spcAft>
              <a:defRPr sz="950">
                <a:solidFill>
                  <a:srgbClr val="0F172A"/>
                </a:solidFill>
              </a:defRPr>
            </a:pPr>
            <a:r>
              <a:t>• Ngừng sử dụng tài liệu lập tức loại bỏ các đoạn văn bản khỏi truy hồi.</a:t>
            </a:r>
          </a:p>
        </p:txBody>
      </p:sp>
      <p:sp>
        <p:nvSpPr>
          <p:cNvPr id="18" name="Rounded Rectangle 17"/>
          <p:cNvSpPr/>
          <p:nvPr/>
        </p:nvSpPr>
        <p:spPr>
          <a:xfrm>
            <a:off x="6217920" y="3931920"/>
            <a:ext cx="52120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4041648"/>
            <a:ext cx="4937760" cy="365760"/>
          </a:xfrm>
          <a:prstGeom prst="rect">
            <a:avLst/>
          </a:prstGeom>
          <a:noFill/>
        </p:spPr>
        <p:txBody>
          <a:bodyPr wrap="square">
            <a:spAutoFit/>
          </a:bodyPr>
          <a:lstStyle/>
          <a:p>
            <a:pPr>
              <a:defRPr sz="1300" b="1">
                <a:solidFill>
                  <a:srgbClr val="1E3A8A"/>
                </a:solidFill>
                <a:latin typeface="Segoe UI"/>
              </a:defRPr>
            </a:pPr>
            <a:r>
              <a:t>Nhật Ký &amp; Giám Sát (UC-17, 18)</a:t>
            </a:r>
          </a:p>
        </p:txBody>
      </p:sp>
      <p:sp>
        <p:nvSpPr>
          <p:cNvPr id="20" name="TextBox 19"/>
          <p:cNvSpPr txBox="1"/>
          <p:nvPr/>
        </p:nvSpPr>
        <p:spPr>
          <a:xfrm>
            <a:off x="6355080" y="4434840"/>
            <a:ext cx="4937760" cy="1508760"/>
          </a:xfrm>
          <a:prstGeom prst="rect">
            <a:avLst/>
          </a:prstGeom>
          <a:noFill/>
        </p:spPr>
        <p:txBody>
          <a:bodyPr wrap="square">
            <a:spAutoFit/>
          </a:bodyPr>
          <a:lstStyle/>
          <a:p>
            <a:pPr>
              <a:spcAft>
                <a:spcPts val="200"/>
              </a:spcAft>
              <a:defRPr sz="950">
                <a:solidFill>
                  <a:srgbClr val="0F172A"/>
                </a:solidFill>
              </a:defRPr>
            </a:pPr>
            <a:r>
              <a:t>• Ghi nhật ký kiểm toán cho mọi thao tác nhạy cảm: thu tiền, đổi dữ liệu, cấp tài khoản.</a:t>
            </a:r>
          </a:p>
          <a:p>
            <a:pPr>
              <a:spcAft>
                <a:spcPts val="200"/>
              </a:spcAft>
              <a:defRPr sz="950">
                <a:solidFill>
                  <a:srgbClr val="0F172A"/>
                </a:solidFill>
              </a:defRPr>
            </a:pPr>
            <a:r>
              <a:t>• Nhật ký lưu trữ bất biến: không thể sửa hoặc xóa qua bất kỳ giao diện nào.</a:t>
            </a:r>
          </a:p>
          <a:p>
            <a:pPr>
              <a:spcAft>
                <a:spcPts val="200"/>
              </a:spcAft>
              <a:defRPr sz="950">
                <a:solidFill>
                  <a:srgbClr val="0F172A"/>
                </a:solidFill>
              </a:defRPr>
            </a:pPr>
            <a:r>
              <a:t>• Bảng điều khiển giám sát sức khỏe dịch vụ và số liệu thống kê thời gian thực.</a:t>
            </a:r>
          </a:p>
          <a:p>
            <a:pPr>
              <a:spcAft>
                <a:spcPts val="200"/>
              </a:spcAft>
              <a:defRPr sz="950">
                <a:solidFill>
                  <a:srgbClr val="0F172A"/>
                </a:solidFill>
              </a:defRPr>
            </a:pPr>
            <a:r>
              <a:t>• Thống kê riêng biệt: số phiên vé hợp lệ, tổng doanh thu và lượt hỏi chatbot.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Kiến Trúc Tổng Thể Và Công Nghệ Sử Dụng</a:t>
            </a:r>
          </a:p>
          <a:p>
            <a:pPr>
              <a:defRPr sz="1200">
                <a:solidFill>
                  <a:srgbClr val="64748B"/>
                </a:solidFill>
                <a:latin typeface="Segoe UI"/>
              </a:defRPr>
            </a:pPr>
            <a:r>
              <a:t>Mô hình kiến trúc phân tầng chịu tải và danh mục công nghệ lựa chọn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18 / 24</a:t>
            </a:r>
          </a:p>
        </p:txBody>
      </p:sp>
      <p:sp>
        <p:nvSpPr>
          <p:cNvPr id="9" name="Rounded Rectangle 8"/>
          <p:cNvSpPr/>
          <p:nvPr/>
        </p:nvSpPr>
        <p:spPr>
          <a:xfrm>
            <a:off x="731520" y="1645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14400" y="1828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Giao Diện (Client Demo)</a:t>
            </a:r>
          </a:p>
        </p:txBody>
      </p:sp>
      <p:sp>
        <p:nvSpPr>
          <p:cNvPr id="11" name="TextBox 10"/>
          <p:cNvSpPr txBox="1"/>
          <p:nvPr/>
        </p:nvSpPr>
        <p:spPr>
          <a:xfrm>
            <a:off x="3657600" y="1783080"/>
            <a:ext cx="7589520" cy="731520"/>
          </a:xfrm>
          <a:prstGeom prst="rect">
            <a:avLst/>
          </a:prstGeom>
          <a:noFill/>
        </p:spPr>
        <p:txBody>
          <a:bodyPr wrap="square">
            <a:spAutoFit/>
          </a:bodyPr>
          <a:lstStyle/>
          <a:p>
            <a:pPr>
              <a:defRPr sz="1100">
                <a:solidFill>
                  <a:srgbClr val="0F172A"/>
                </a:solidFill>
                <a:latin typeface="Segoe UI"/>
              </a:defRPr>
            </a:pPr>
            <a:r>
              <a:t>Trang web ứng dụng đơn Leaflet, OpenStreetMap, HTML5 Geolocation, Audio API. Chạy mượt mà trên Safari/Chrome điện thoại.</a:t>
            </a:r>
          </a:p>
        </p:txBody>
      </p:sp>
      <p:sp>
        <p:nvSpPr>
          <p:cNvPr id="12" name="Rounded Rectangle 11"/>
          <p:cNvSpPr/>
          <p:nvPr/>
        </p:nvSpPr>
        <p:spPr>
          <a:xfrm>
            <a:off x="731520" y="2788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 y="2971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Ứng Dụng (Node.js Back-end)</a:t>
            </a:r>
          </a:p>
        </p:txBody>
      </p:sp>
      <p:sp>
        <p:nvSpPr>
          <p:cNvPr id="14" name="TextBox 13"/>
          <p:cNvSpPr txBox="1"/>
          <p:nvPr/>
        </p:nvSpPr>
        <p:spPr>
          <a:xfrm>
            <a:off x="3657600" y="2926080"/>
            <a:ext cx="7589520" cy="731520"/>
          </a:xfrm>
          <a:prstGeom prst="rect">
            <a:avLst/>
          </a:prstGeom>
          <a:noFill/>
        </p:spPr>
        <p:txBody>
          <a:bodyPr wrap="square">
            <a:spAutoFit/>
          </a:bodyPr>
          <a:lstStyle/>
          <a:p>
            <a:pPr>
              <a:defRPr sz="1100">
                <a:solidFill>
                  <a:srgbClr val="0F172A"/>
                </a:solidFill>
                <a:latin typeface="Segoe UI"/>
              </a:defRPr>
            </a:pPr>
            <a:r>
              <a:t>Framework Express, kiến trúc 3 lớp Router-Service-Store, các Middleware xác thực JWT, phân quyền vai trò và xử lý lỗi tập trung.</a:t>
            </a:r>
          </a:p>
        </p:txBody>
      </p:sp>
      <p:sp>
        <p:nvSpPr>
          <p:cNvPr id="15" name="Rounded Rectangle 14"/>
          <p:cNvSpPr/>
          <p:nvPr/>
        </p:nvSpPr>
        <p:spPr>
          <a:xfrm>
            <a:off x="731520" y="3931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14400" y="4114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Dữ Liệu (Data Storage)</a:t>
            </a:r>
          </a:p>
        </p:txBody>
      </p:sp>
      <p:sp>
        <p:nvSpPr>
          <p:cNvPr id="17" name="TextBox 16"/>
          <p:cNvSpPr txBox="1"/>
          <p:nvPr/>
        </p:nvSpPr>
        <p:spPr>
          <a:xfrm>
            <a:off x="3657600" y="4069080"/>
            <a:ext cx="7589520" cy="731520"/>
          </a:xfrm>
          <a:prstGeom prst="rect">
            <a:avLst/>
          </a:prstGeom>
          <a:noFill/>
        </p:spPr>
        <p:txBody>
          <a:bodyPr wrap="square">
            <a:spAutoFit/>
          </a:bodyPr>
          <a:lstStyle/>
          <a:p>
            <a:pPr>
              <a:defRPr sz="1100">
                <a:solidFill>
                  <a:srgbClr val="0F172A"/>
                </a:solidFill>
                <a:latin typeface="Segoe UI"/>
              </a:defRPr>
            </a:pPr>
            <a:r>
              <a:t>MySQL 8 làm cơ sở dữ liệu quan hệ lưu trữ dữ liệu kinh doanh chính thống; Redis 7 làm kho bộ nhớ đệm và quản lý mã ngắn tạm thời.</a:t>
            </a:r>
          </a:p>
        </p:txBody>
      </p:sp>
      <p:sp>
        <p:nvSpPr>
          <p:cNvPr id="18" name="Rounded Rectangle 17"/>
          <p:cNvSpPr/>
          <p:nvPr/>
        </p:nvSpPr>
        <p:spPr>
          <a:xfrm>
            <a:off x="731520" y="50749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4400" y="5257800"/>
            <a:ext cx="256032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Tầng Dịch Vụ Ngoài (Adapters)</a:t>
            </a:r>
          </a:p>
        </p:txBody>
      </p:sp>
      <p:sp>
        <p:nvSpPr>
          <p:cNvPr id="20" name="TextBox 19"/>
          <p:cNvSpPr txBox="1"/>
          <p:nvPr/>
        </p:nvSpPr>
        <p:spPr>
          <a:xfrm>
            <a:off x="3657600" y="5212080"/>
            <a:ext cx="7589520" cy="731520"/>
          </a:xfrm>
          <a:prstGeom prst="rect">
            <a:avLst/>
          </a:prstGeom>
          <a:noFill/>
        </p:spPr>
        <p:txBody>
          <a:bodyPr wrap="square">
            <a:spAutoFit/>
          </a:bodyPr>
          <a:lstStyle/>
          <a:p>
            <a:pPr>
              <a:defRPr sz="1100">
                <a:solidFill>
                  <a:srgbClr val="0F172A"/>
                </a:solidFill>
                <a:latin typeface="Segoe UI"/>
              </a:defRPr>
            </a:pPr>
            <a:r>
              <a:t>PaymentGateway mô phỏng thanh toán, TranslationAdapter dịch thuật, TTSAdapter tạo giọng đọc và AIAdapter kết nối mô hình ngôn ngữ.</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Thiết Kế Kiến Trúc Back-end Ba Lớp</a:t>
            </a:r>
          </a:p>
          <a:p>
            <a:pPr>
              <a:defRPr sz="1200">
                <a:solidFill>
                  <a:srgbClr val="64748B"/>
                </a:solidFill>
                <a:latin typeface="Segoe UI"/>
              </a:defRPr>
            </a:pPr>
            <a:r>
              <a:t>Phân định nghiêm ngặt trách nhiệm giữa Router, Service và Store</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19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645920"/>
            <a:ext cx="3383280" cy="822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Lớp Định Tuyến (ROUTER)</a:t>
            </a:r>
          </a:p>
          <a:p>
            <a:pPr algn="ctr">
              <a:defRPr sz="1000">
                <a:solidFill>
                  <a:srgbClr val="CBD5E1"/>
                </a:solidFill>
              </a:defRPr>
            </a:pPr>
            <a:r>
              <a:t>Tiếp nhận yêu cầu HTTP</a:t>
            </a:r>
          </a:p>
        </p:txBody>
      </p:sp>
      <p:sp>
        <p:nvSpPr>
          <p:cNvPr id="11" name="TextBox 10"/>
          <p:cNvSpPr txBox="1"/>
          <p:nvPr/>
        </p:nvSpPr>
        <p:spPr>
          <a:xfrm>
            <a:off x="868680" y="2606040"/>
            <a:ext cx="3108960" cy="3383280"/>
          </a:xfrm>
          <a:prstGeom prst="rect">
            <a:avLst/>
          </a:prstGeom>
          <a:noFill/>
        </p:spPr>
        <p:txBody>
          <a:bodyPr wrap="square">
            <a:spAutoFit/>
          </a:bodyPr>
          <a:lstStyle/>
          <a:p>
            <a:pPr>
              <a:spcAft>
                <a:spcPts val="800"/>
              </a:spcAft>
              <a:defRPr sz="1000">
                <a:solidFill>
                  <a:srgbClr val="0F172A"/>
                </a:solidFill>
              </a:defRPr>
            </a:pPr>
            <a:r>
              <a:t>• Tiếp nhận request từ client, kiểm tra định dạng dữ liệu đầu vào (Validation Schema).</a:t>
            </a:r>
          </a:p>
          <a:p>
            <a:pPr>
              <a:spcAft>
                <a:spcPts val="800"/>
              </a:spcAft>
              <a:defRPr sz="1000">
                <a:solidFill>
                  <a:srgbClr val="0F172A"/>
                </a:solidFill>
              </a:defRPr>
            </a:pPr>
            <a:r>
              <a:t>• Gọi phương thức xử lý tương ứng từ lớp Service.</a:t>
            </a:r>
          </a:p>
          <a:p>
            <a:pPr>
              <a:spcAft>
                <a:spcPts val="800"/>
              </a:spcAft>
              <a:defRPr sz="1000">
                <a:solidFill>
                  <a:srgbClr val="0F172A"/>
                </a:solidFill>
              </a:defRPr>
            </a:pPr>
            <a:r>
              <a:t>• Đóng gói kết quả và trả về HTTP Status Code (200, 201, 400, 401, 403, 404, 500).</a:t>
            </a:r>
          </a:p>
          <a:p>
            <a:pPr>
              <a:spcAft>
                <a:spcPts val="800"/>
              </a:spcAft>
              <a:defRPr sz="1000">
                <a:solidFill>
                  <a:srgbClr val="0F172A"/>
                </a:solidFill>
              </a:defRPr>
            </a:pPr>
            <a:r>
              <a:t>• Nguyên tắc: Tuyệt đối không chứa logic nghiệp vụ và không viết truy vấn cơ sở dữ liệu.</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645920"/>
            <a:ext cx="3383280" cy="822960"/>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Lớp Nghiệp Vụ (SERVICE)</a:t>
            </a:r>
          </a:p>
          <a:p>
            <a:pPr algn="ctr">
              <a:defRPr sz="1000">
                <a:solidFill>
                  <a:srgbClr val="CBD5E1"/>
                </a:solidFill>
              </a:defRPr>
            </a:pPr>
            <a:r>
              <a:t>Trung tâm xử lý logic</a:t>
            </a:r>
          </a:p>
        </p:txBody>
      </p:sp>
      <p:sp>
        <p:nvSpPr>
          <p:cNvPr id="14" name="TextBox 13"/>
          <p:cNvSpPr txBox="1"/>
          <p:nvPr/>
        </p:nvSpPr>
        <p:spPr>
          <a:xfrm>
            <a:off x="4526280" y="2606040"/>
            <a:ext cx="3108960" cy="3383280"/>
          </a:xfrm>
          <a:prstGeom prst="rect">
            <a:avLst/>
          </a:prstGeom>
          <a:noFill/>
        </p:spPr>
        <p:txBody>
          <a:bodyPr wrap="square">
            <a:spAutoFit/>
          </a:bodyPr>
          <a:lstStyle/>
          <a:p>
            <a:pPr>
              <a:spcAft>
                <a:spcPts val="800"/>
              </a:spcAft>
              <a:defRPr sz="1000">
                <a:solidFill>
                  <a:srgbClr val="0F172A"/>
                </a:solidFill>
              </a:defRPr>
            </a:pPr>
            <a:r>
              <a:t>• Thực hiện toàn bộ quy tắc nghiệp vụ: kiểm tra hạn vé, chống phát lặp, điều phối pipeline.</a:t>
            </a:r>
          </a:p>
          <a:p>
            <a:pPr>
              <a:spcAft>
                <a:spcPts val="800"/>
              </a:spcAft>
              <a:defRPr sz="1000">
                <a:solidFill>
                  <a:srgbClr val="0F172A"/>
                </a:solidFill>
              </a:defRPr>
            </a:pPr>
            <a:r>
              <a:t>• Tính toán khoảng cách, đóng gói bundle dữ liệu tham quan.</a:t>
            </a:r>
          </a:p>
          <a:p>
            <a:pPr>
              <a:spcAft>
                <a:spcPts val="800"/>
              </a:spcAft>
              <a:defRPr sz="1000">
                <a:solidFill>
                  <a:srgbClr val="0F172A"/>
                </a:solidFill>
              </a:defRPr>
            </a:pPr>
            <a:r>
              <a:t>• Điều phối giao dịch đa bảng và gọi các bộ điều hợp dịch vụ ngoài (Adapters).</a:t>
            </a:r>
          </a:p>
          <a:p>
            <a:pPr>
              <a:spcAft>
                <a:spcPts val="800"/>
              </a:spcAft>
              <a:defRPr sz="1000">
                <a:solidFill>
                  <a:srgbClr val="0F172A"/>
                </a:solidFill>
              </a:defRPr>
            </a:pPr>
            <a:r>
              <a:t>• Nguyên tắc: Không trực tiếp gọi driver kết nối cơ sở dữ liệu hoặc xử lý HTTP.</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1645920"/>
            <a:ext cx="3383280" cy="822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Lớp Lưu Trữ (STORE)</a:t>
            </a:r>
          </a:p>
          <a:p>
            <a:pPr algn="ctr">
              <a:defRPr sz="1000">
                <a:solidFill>
                  <a:srgbClr val="CBD5E1"/>
                </a:solidFill>
              </a:defRPr>
            </a:pPr>
            <a:r>
              <a:t>Truy xuất cơ sở dữ liệu</a:t>
            </a:r>
          </a:p>
        </p:txBody>
      </p:sp>
      <p:sp>
        <p:nvSpPr>
          <p:cNvPr id="17" name="TextBox 16"/>
          <p:cNvSpPr txBox="1"/>
          <p:nvPr/>
        </p:nvSpPr>
        <p:spPr>
          <a:xfrm>
            <a:off x="8183880" y="2606040"/>
            <a:ext cx="3108960" cy="3383280"/>
          </a:xfrm>
          <a:prstGeom prst="rect">
            <a:avLst/>
          </a:prstGeom>
          <a:noFill/>
        </p:spPr>
        <p:txBody>
          <a:bodyPr wrap="square">
            <a:spAutoFit/>
          </a:bodyPr>
          <a:lstStyle/>
          <a:p>
            <a:pPr>
              <a:spcAft>
                <a:spcPts val="800"/>
              </a:spcAft>
              <a:defRPr sz="1000">
                <a:solidFill>
                  <a:srgbClr val="0F172A"/>
                </a:solidFill>
              </a:defRPr>
            </a:pPr>
            <a:r>
              <a:t>• Đóng gói toàn bộ câu lệnh truy vấn SQL tương tác với MySQL.</a:t>
            </a:r>
          </a:p>
          <a:p>
            <a:pPr>
              <a:spcAft>
                <a:spcPts val="800"/>
              </a:spcAft>
              <a:defRPr sz="1000">
                <a:solidFill>
                  <a:srgbClr val="0F172A"/>
                </a:solidFill>
              </a:defRPr>
            </a:pPr>
            <a:r>
              <a:t>• Tương tác với Redis để quản lý mã ngắn và bộ đếm giới hạn truy cập.</a:t>
            </a:r>
          </a:p>
          <a:p>
            <a:pPr>
              <a:spcAft>
                <a:spcPts val="800"/>
              </a:spcAft>
              <a:defRPr sz="1000">
                <a:solidFill>
                  <a:srgbClr val="0F172A"/>
                </a:solidFill>
              </a:defRPr>
            </a:pPr>
            <a:r>
              <a:t>• Quản lý giao dịch dữ liệu (Transaction Commit / Rollback) đảm bảo tính toàn vẹn.</a:t>
            </a:r>
          </a:p>
          <a:p>
            <a:pPr>
              <a:spcAft>
                <a:spcPts val="800"/>
              </a:spcAft>
              <a:defRPr sz="1000">
                <a:solidFill>
                  <a:srgbClr val="0F172A"/>
                </a:solidFill>
              </a:defRPr>
            </a:pPr>
            <a:r>
              <a:t>• Nguyên tắc: Chỉ chịu trách nhiệm lưu trữ và truy hồi dữ liệu, không quyết định nghiệp vụ.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Thiết Kế Thành Phần Phần Mềm (Component Design)</a:t>
            </a:r>
          </a:p>
          <a:p>
            <a:pPr>
              <a:defRPr sz="1200">
                <a:solidFill>
                  <a:srgbClr val="64748B"/>
                </a:solidFill>
                <a:latin typeface="Segoe UI"/>
              </a:defRPr>
            </a:pPr>
            <a:r>
              <a:t>Cấu trúc module hóa độc lập, giao tiếp lỏng lẻo thông qua giao diện dịch vụ</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20 / 24</a:t>
            </a:r>
          </a:p>
        </p:txBody>
      </p:sp>
      <p:sp>
        <p:nvSpPr>
          <p:cNvPr id="9" name="Rounded Rectangle 8"/>
          <p:cNvSpPr/>
          <p:nvPr/>
        </p:nvSpPr>
        <p:spPr>
          <a:xfrm>
            <a:off x="731520"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2286000" cy="365760"/>
          </a:xfrm>
          <a:prstGeom prst="rect">
            <a:avLst/>
          </a:prstGeom>
          <a:noFill/>
        </p:spPr>
        <p:txBody>
          <a:bodyPr wrap="square">
            <a:spAutoFit/>
          </a:bodyPr>
          <a:lstStyle/>
          <a:p>
            <a:pPr>
              <a:defRPr sz="1300" b="1">
                <a:solidFill>
                  <a:srgbClr val="1E3A8A"/>
                </a:solidFill>
                <a:latin typeface="Segoe UI"/>
              </a:defRPr>
            </a:pPr>
            <a:r>
              <a:t>AuthComponent</a:t>
            </a:r>
          </a:p>
        </p:txBody>
      </p:sp>
      <p:sp>
        <p:nvSpPr>
          <p:cNvPr id="11" name="TextBox 10"/>
          <p:cNvSpPr txBox="1"/>
          <p:nvPr/>
        </p:nvSpPr>
        <p:spPr>
          <a:xfrm>
            <a:off x="868680" y="2148840"/>
            <a:ext cx="2286000" cy="1554480"/>
          </a:xfrm>
          <a:prstGeom prst="rect">
            <a:avLst/>
          </a:prstGeom>
          <a:noFill/>
        </p:spPr>
        <p:txBody>
          <a:bodyPr wrap="square">
            <a:spAutoFit/>
          </a:bodyPr>
          <a:lstStyle/>
          <a:p>
            <a:pPr>
              <a:defRPr sz="1000">
                <a:solidFill>
                  <a:srgbClr val="0F172A"/>
                </a:solidFill>
              </a:defRPr>
            </a:pPr>
            <a:r>
              <a:t>Quản lý định danh nhân viên, cấp phát JWT, xoay vòng refresh token, khóa tài khoản tạm thời và ghi nhận nhật ký đăng nhập.</a:t>
            </a:r>
          </a:p>
        </p:txBody>
      </p:sp>
      <p:sp>
        <p:nvSpPr>
          <p:cNvPr id="12" name="Rounded Rectangle 11"/>
          <p:cNvSpPr/>
          <p:nvPr/>
        </p:nvSpPr>
        <p:spPr>
          <a:xfrm>
            <a:off x="3456432"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93592" y="1755648"/>
            <a:ext cx="2286000" cy="365760"/>
          </a:xfrm>
          <a:prstGeom prst="rect">
            <a:avLst/>
          </a:prstGeom>
          <a:noFill/>
        </p:spPr>
        <p:txBody>
          <a:bodyPr wrap="square">
            <a:spAutoFit/>
          </a:bodyPr>
          <a:lstStyle/>
          <a:p>
            <a:pPr>
              <a:defRPr sz="1300" b="1">
                <a:solidFill>
                  <a:srgbClr val="1E3A8A"/>
                </a:solidFill>
                <a:latin typeface="Segoe UI"/>
              </a:defRPr>
            </a:pPr>
            <a:r>
              <a:t>TouristComponent</a:t>
            </a:r>
          </a:p>
        </p:txBody>
      </p:sp>
      <p:sp>
        <p:nvSpPr>
          <p:cNvPr id="14" name="TextBox 13"/>
          <p:cNvSpPr txBox="1"/>
          <p:nvPr/>
        </p:nvSpPr>
        <p:spPr>
          <a:xfrm>
            <a:off x="3593592" y="2148840"/>
            <a:ext cx="2286000" cy="1554480"/>
          </a:xfrm>
          <a:prstGeom prst="rect">
            <a:avLst/>
          </a:prstGeom>
          <a:noFill/>
        </p:spPr>
        <p:txBody>
          <a:bodyPr wrap="square">
            <a:spAutoFit/>
          </a:bodyPr>
          <a:lstStyle/>
          <a:p>
            <a:pPr>
              <a:defRPr sz="1000">
                <a:solidFill>
                  <a:srgbClr val="0F172A"/>
                </a:solidFill>
              </a:defRPr>
            </a:pPr>
            <a:r>
              <a:t>Tiếp nhận quét QR, phối hợp thanh toán trực tuyến hoặc tiền mặt, sinh mã ngắn Redis và cấp token phiên vé du khách.</a:t>
            </a:r>
          </a:p>
        </p:txBody>
      </p:sp>
      <p:sp>
        <p:nvSpPr>
          <p:cNvPr id="15" name="Rounded Rectangle 14"/>
          <p:cNvSpPr/>
          <p:nvPr/>
        </p:nvSpPr>
        <p:spPr>
          <a:xfrm>
            <a:off x="6181344"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8504" y="1755648"/>
            <a:ext cx="2286000" cy="365760"/>
          </a:xfrm>
          <a:prstGeom prst="rect">
            <a:avLst/>
          </a:prstGeom>
          <a:noFill/>
        </p:spPr>
        <p:txBody>
          <a:bodyPr wrap="square">
            <a:spAutoFit/>
          </a:bodyPr>
          <a:lstStyle/>
          <a:p>
            <a:pPr>
              <a:defRPr sz="1300" b="1">
                <a:solidFill>
                  <a:srgbClr val="1E3A8A"/>
                </a:solidFill>
                <a:latin typeface="Segoe UI"/>
              </a:defRPr>
            </a:pPr>
            <a:r>
              <a:t>ContentComponent</a:t>
            </a:r>
          </a:p>
        </p:txBody>
      </p:sp>
      <p:sp>
        <p:nvSpPr>
          <p:cNvPr id="17" name="TextBox 16"/>
          <p:cNvSpPr txBox="1"/>
          <p:nvPr/>
        </p:nvSpPr>
        <p:spPr>
          <a:xfrm>
            <a:off x="6318504" y="2148840"/>
            <a:ext cx="2286000" cy="1554480"/>
          </a:xfrm>
          <a:prstGeom prst="rect">
            <a:avLst/>
          </a:prstGeom>
          <a:noFill/>
        </p:spPr>
        <p:txBody>
          <a:bodyPr wrap="square">
            <a:spAutoFit/>
          </a:bodyPr>
          <a:lstStyle/>
          <a:p>
            <a:pPr>
              <a:defRPr sz="1000">
                <a:solidFill>
                  <a:srgbClr val="0F172A"/>
                </a:solidFill>
              </a:defRPr>
            </a:pPr>
            <a:r>
              <a:t>Quản lý danh mục điểm tham quan, lưu trữ bài viết đa ngôn ngữ và tạo gói dữ liệu bundle độc lập phục vụ du khách.</a:t>
            </a:r>
          </a:p>
        </p:txBody>
      </p:sp>
      <p:sp>
        <p:nvSpPr>
          <p:cNvPr id="18" name="Rounded Rectangle 17"/>
          <p:cNvSpPr/>
          <p:nvPr/>
        </p:nvSpPr>
        <p:spPr>
          <a:xfrm>
            <a:off x="8906256" y="1645920"/>
            <a:ext cx="25603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43416" y="1755648"/>
            <a:ext cx="2286000" cy="365760"/>
          </a:xfrm>
          <a:prstGeom prst="rect">
            <a:avLst/>
          </a:prstGeom>
          <a:noFill/>
        </p:spPr>
        <p:txBody>
          <a:bodyPr wrap="square">
            <a:spAutoFit/>
          </a:bodyPr>
          <a:lstStyle/>
          <a:p>
            <a:pPr>
              <a:defRPr sz="1300" b="1">
                <a:solidFill>
                  <a:srgbClr val="1E3A8A"/>
                </a:solidFill>
                <a:latin typeface="Segoe UI"/>
              </a:defRPr>
            </a:pPr>
            <a:r>
              <a:t>AudioPipelineComponent</a:t>
            </a:r>
          </a:p>
        </p:txBody>
      </p:sp>
      <p:sp>
        <p:nvSpPr>
          <p:cNvPr id="20" name="TextBox 19"/>
          <p:cNvSpPr txBox="1"/>
          <p:nvPr/>
        </p:nvSpPr>
        <p:spPr>
          <a:xfrm>
            <a:off x="9043416" y="2148840"/>
            <a:ext cx="2286000" cy="1554480"/>
          </a:xfrm>
          <a:prstGeom prst="rect">
            <a:avLst/>
          </a:prstGeom>
          <a:noFill/>
        </p:spPr>
        <p:txBody>
          <a:bodyPr wrap="square">
            <a:spAutoFit/>
          </a:bodyPr>
          <a:lstStyle/>
          <a:p>
            <a:pPr>
              <a:defRPr sz="1000">
                <a:solidFill>
                  <a:srgbClr val="0F172A"/>
                </a:solidFill>
              </a:defRPr>
            </a:pPr>
            <a:r>
              <a:t>Tiếp nhận sự kiện cập nhật nội dung, điều phối tiến trình dịch thuật nền và tạo âm thanh giọng đọc tự động.</a:t>
            </a:r>
          </a:p>
        </p:txBody>
      </p:sp>
      <p:sp>
        <p:nvSpPr>
          <p:cNvPr id="21" name="Rounded Rectangle 20"/>
          <p:cNvSpPr/>
          <p:nvPr/>
        </p:nvSpPr>
        <p:spPr>
          <a:xfrm>
            <a:off x="731520" y="3977639"/>
            <a:ext cx="34747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087367"/>
            <a:ext cx="3200400" cy="365760"/>
          </a:xfrm>
          <a:prstGeom prst="rect">
            <a:avLst/>
          </a:prstGeom>
          <a:noFill/>
        </p:spPr>
        <p:txBody>
          <a:bodyPr wrap="square">
            <a:spAutoFit/>
          </a:bodyPr>
          <a:lstStyle/>
          <a:p>
            <a:pPr>
              <a:defRPr sz="1300" b="1">
                <a:solidFill>
                  <a:srgbClr val="1E3A8A"/>
                </a:solidFill>
                <a:latin typeface="Segoe UI"/>
              </a:defRPr>
            </a:pPr>
            <a:r>
              <a:t>RouteComponent</a:t>
            </a:r>
          </a:p>
        </p:txBody>
      </p:sp>
      <p:sp>
        <p:nvSpPr>
          <p:cNvPr id="23" name="TextBox 22"/>
          <p:cNvSpPr txBox="1"/>
          <p:nvPr/>
        </p:nvSpPr>
        <p:spPr>
          <a:xfrm>
            <a:off x="868680" y="4480559"/>
            <a:ext cx="3200400" cy="1554480"/>
          </a:xfrm>
          <a:prstGeom prst="rect">
            <a:avLst/>
          </a:prstGeom>
          <a:noFill/>
        </p:spPr>
        <p:txBody>
          <a:bodyPr wrap="square">
            <a:spAutoFit/>
          </a:bodyPr>
          <a:lstStyle/>
          <a:p>
            <a:pPr>
              <a:defRPr sz="1000">
                <a:solidFill>
                  <a:srgbClr val="0F172A"/>
                </a:solidFill>
              </a:defRPr>
            </a:pPr>
            <a:r>
              <a:t>Cung cấp danh mục lộ trình tham quan mẫu, hỗ trợ du khách tùy biến thêm bớt điểm và tối ưu hóa thứ tự ghé thăm.</a:t>
            </a:r>
          </a:p>
        </p:txBody>
      </p:sp>
      <p:sp>
        <p:nvSpPr>
          <p:cNvPr id="24" name="Rounded Rectangle 23"/>
          <p:cNvSpPr/>
          <p:nvPr/>
        </p:nvSpPr>
        <p:spPr>
          <a:xfrm>
            <a:off x="4370832" y="3977639"/>
            <a:ext cx="34747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07992" y="4087367"/>
            <a:ext cx="3200400" cy="365760"/>
          </a:xfrm>
          <a:prstGeom prst="rect">
            <a:avLst/>
          </a:prstGeom>
          <a:noFill/>
        </p:spPr>
        <p:txBody>
          <a:bodyPr wrap="square">
            <a:spAutoFit/>
          </a:bodyPr>
          <a:lstStyle/>
          <a:p>
            <a:pPr>
              <a:defRPr sz="1300" b="1">
                <a:solidFill>
                  <a:srgbClr val="1E3A8A"/>
                </a:solidFill>
                <a:latin typeface="Segoe UI"/>
              </a:defRPr>
            </a:pPr>
            <a:r>
              <a:t>RagComponent</a:t>
            </a:r>
          </a:p>
        </p:txBody>
      </p:sp>
      <p:sp>
        <p:nvSpPr>
          <p:cNvPr id="26" name="TextBox 25"/>
          <p:cNvSpPr txBox="1"/>
          <p:nvPr/>
        </p:nvSpPr>
        <p:spPr>
          <a:xfrm>
            <a:off x="4507992" y="4480559"/>
            <a:ext cx="3200400" cy="1554480"/>
          </a:xfrm>
          <a:prstGeom prst="rect">
            <a:avLst/>
          </a:prstGeom>
          <a:noFill/>
        </p:spPr>
        <p:txBody>
          <a:bodyPr wrap="square">
            <a:spAutoFit/>
          </a:bodyPr>
          <a:lstStyle/>
          <a:p>
            <a:pPr>
              <a:defRPr sz="1000">
                <a:solidFill>
                  <a:srgbClr val="0F172A"/>
                </a:solidFill>
              </a:defRPr>
            </a:pPr>
            <a:r>
              <a:t>Quản lý tài liệu tri thức, phân đoạn văn bản, tạo chỉ mục vector ngữ nghĩa và điều phối hỏi đáp trí tuệ nhân tạo.</a:t>
            </a:r>
          </a:p>
        </p:txBody>
      </p:sp>
      <p:sp>
        <p:nvSpPr>
          <p:cNvPr id="27" name="Rounded Rectangle 26"/>
          <p:cNvSpPr/>
          <p:nvPr/>
        </p:nvSpPr>
        <p:spPr>
          <a:xfrm>
            <a:off x="8010144" y="3977639"/>
            <a:ext cx="347472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47304" y="4087367"/>
            <a:ext cx="3200400" cy="365760"/>
          </a:xfrm>
          <a:prstGeom prst="rect">
            <a:avLst/>
          </a:prstGeom>
          <a:noFill/>
        </p:spPr>
        <p:txBody>
          <a:bodyPr wrap="square">
            <a:spAutoFit/>
          </a:bodyPr>
          <a:lstStyle/>
          <a:p>
            <a:pPr>
              <a:defRPr sz="1300" b="1">
                <a:solidFill>
                  <a:srgbClr val="1E3A8A"/>
                </a:solidFill>
                <a:latin typeface="Segoe UI"/>
              </a:defRPr>
            </a:pPr>
            <a:r>
              <a:t>MonitoringComponent</a:t>
            </a:r>
          </a:p>
        </p:txBody>
      </p:sp>
      <p:sp>
        <p:nvSpPr>
          <p:cNvPr id="29" name="TextBox 28"/>
          <p:cNvSpPr txBox="1"/>
          <p:nvPr/>
        </p:nvSpPr>
        <p:spPr>
          <a:xfrm>
            <a:off x="8147304" y="4480559"/>
            <a:ext cx="3200400" cy="1554480"/>
          </a:xfrm>
          <a:prstGeom prst="rect">
            <a:avLst/>
          </a:prstGeom>
          <a:noFill/>
        </p:spPr>
        <p:txBody>
          <a:bodyPr wrap="square">
            <a:spAutoFit/>
          </a:bodyPr>
          <a:lstStyle/>
          <a:p>
            <a:pPr>
              <a:defRPr sz="1000">
                <a:solidFill>
                  <a:srgbClr val="0F172A"/>
                </a:solidFill>
              </a:defRPr>
            </a:pPr>
            <a:r>
              <a:t>Thu thập số liệu phiên tham quan thực tế, kiểm tra trạng thái sống của dịch vụ và cung cấp dữ liệu báo cáo vận hành.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Thiết Kế Cơ Sở Dữ Liệu: 3 Phân Hệ Và 16 Bảng</a:t>
            </a:r>
          </a:p>
          <a:p>
            <a:pPr>
              <a:defRPr sz="1200">
                <a:solidFill>
                  <a:srgbClr val="64748B"/>
                </a:solidFill>
                <a:latin typeface="Segoe UI"/>
              </a:defRPr>
            </a:pPr>
            <a:r>
              <a:t>Cấu trúc dữ liệu chuẩn hóa, phân vùng logic rõ ràng và quan hệ toàn vẹn</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21 / 24</a:t>
            </a:r>
          </a:p>
        </p:txBody>
      </p:sp>
      <p:sp>
        <p:nvSpPr>
          <p:cNvPr id="9" name="Rounded Rectangle 8"/>
          <p:cNvSpPr/>
          <p:nvPr/>
        </p:nvSpPr>
        <p:spPr>
          <a:xfrm>
            <a:off x="7315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3108960" cy="365760"/>
          </a:xfrm>
          <a:prstGeom prst="rect">
            <a:avLst/>
          </a:prstGeom>
          <a:noFill/>
        </p:spPr>
        <p:txBody>
          <a:bodyPr wrap="square">
            <a:spAutoFit/>
          </a:bodyPr>
          <a:lstStyle/>
          <a:p>
            <a:pPr>
              <a:defRPr sz="1300" b="1">
                <a:solidFill>
                  <a:srgbClr val="1E3A8A"/>
                </a:solidFill>
                <a:latin typeface="Segoe UI"/>
              </a:defRPr>
            </a:pPr>
            <a:r>
              <a:t>Phân Hệ 1: Tài Khoản &amp; Vé</a:t>
            </a:r>
          </a:p>
        </p:txBody>
      </p:sp>
      <p:sp>
        <p:nvSpPr>
          <p:cNvPr id="11" name="TextBox 10"/>
          <p:cNvSpPr txBox="1"/>
          <p:nvPr/>
        </p:nvSpPr>
        <p:spPr>
          <a:xfrm>
            <a:off x="868680" y="2148840"/>
            <a:ext cx="3108960" cy="3840480"/>
          </a:xfrm>
          <a:prstGeom prst="rect">
            <a:avLst/>
          </a:prstGeom>
          <a:noFill/>
        </p:spPr>
        <p:txBody>
          <a:bodyPr wrap="square">
            <a:spAutoFit/>
          </a:bodyPr>
          <a:lstStyle/>
          <a:p>
            <a:pPr>
              <a:defRPr sz="1000" b="1">
                <a:solidFill>
                  <a:srgbClr val="1E3A8A"/>
                </a:solidFill>
              </a:defRPr>
            </a:pPr>
            <a:r>
              <a:t>USERS</a:t>
            </a:r>
          </a:p>
          <a:p>
            <a:pPr>
              <a:spcAft>
                <a:spcPts val="300"/>
              </a:spcAft>
              <a:defRPr sz="950">
                <a:solidFill>
                  <a:srgbClr val="0F172A"/>
                </a:solidFill>
              </a:defRPr>
            </a:pPr>
            <a:r>
              <a:t>Tài khoản nhân viên và quản trị viên.</a:t>
            </a:r>
          </a:p>
          <a:p>
            <a:pPr>
              <a:defRPr sz="1000" b="1">
                <a:solidFill>
                  <a:srgbClr val="1E3A8A"/>
                </a:solidFill>
              </a:defRPr>
            </a:pPr>
            <a:r>
              <a:t>REFRESH_TOKENS</a:t>
            </a:r>
          </a:p>
          <a:p>
            <a:pPr>
              <a:spcAft>
                <a:spcPts val="300"/>
              </a:spcAft>
              <a:defRPr sz="950">
                <a:solidFill>
                  <a:srgbClr val="0F172A"/>
                </a:solidFill>
              </a:defRPr>
            </a:pPr>
            <a:r>
              <a:t>Lưu trữ băm token gia hạn an toàn.</a:t>
            </a:r>
          </a:p>
          <a:p>
            <a:pPr>
              <a:defRPr sz="1000" b="1">
                <a:solidFill>
                  <a:srgbClr val="1E3A8A"/>
                </a:solidFill>
              </a:defRPr>
            </a:pPr>
            <a:r>
              <a:t>AUDIT_LOGS</a:t>
            </a:r>
          </a:p>
          <a:p>
            <a:pPr>
              <a:spcAft>
                <a:spcPts val="300"/>
              </a:spcAft>
              <a:defRPr sz="950">
                <a:solidFill>
                  <a:srgbClr val="0F172A"/>
                </a:solidFill>
              </a:defRPr>
            </a:pPr>
            <a:r>
              <a:t>Nhật ký kiểm toán thao tác bất biến.</a:t>
            </a:r>
          </a:p>
          <a:p>
            <a:pPr>
              <a:defRPr sz="1000" b="1">
                <a:solidFill>
                  <a:srgbClr val="1E3A8A"/>
                </a:solidFill>
              </a:defRPr>
            </a:pPr>
            <a:r>
              <a:t>VISIT_SESSIONS</a:t>
            </a:r>
          </a:p>
          <a:p>
            <a:pPr>
              <a:spcAft>
                <a:spcPts val="300"/>
              </a:spcAft>
              <a:defRPr sz="950">
                <a:solidFill>
                  <a:srgbClr val="0F172A"/>
                </a:solidFill>
              </a:defRPr>
            </a:pPr>
            <a:r>
              <a:t>Phiên tham quan 24 giờ của du khách.</a:t>
            </a:r>
          </a:p>
          <a:p>
            <a:pPr>
              <a:defRPr sz="1000" b="1">
                <a:solidFill>
                  <a:srgbClr val="1E3A8A"/>
                </a:solidFill>
              </a:defRPr>
            </a:pPr>
            <a:r>
              <a:t>PAYMENTS</a:t>
            </a:r>
          </a:p>
          <a:p>
            <a:pPr>
              <a:spcAft>
                <a:spcPts val="300"/>
              </a:spcAft>
              <a:defRPr sz="950">
                <a:solidFill>
                  <a:srgbClr val="0F172A"/>
                </a:solidFill>
              </a:defRPr>
            </a:pPr>
            <a:r>
              <a:t>Giao dịch thanh toán online / tiền mặt.</a:t>
            </a:r>
          </a:p>
          <a:p>
            <a:pPr>
              <a:defRPr sz="1000" b="1">
                <a:solidFill>
                  <a:srgbClr val="1E3A8A"/>
                </a:solidFill>
              </a:defRPr>
            </a:pPr>
            <a:r>
              <a:t>BUNDLE_ACCESS_LOGS</a:t>
            </a:r>
          </a:p>
          <a:p>
            <a:pPr>
              <a:spcAft>
                <a:spcPts val="300"/>
              </a:spcAft>
              <a:defRPr sz="950">
                <a:solidFill>
                  <a:srgbClr val="0F172A"/>
                </a:solidFill>
              </a:defRPr>
            </a:pPr>
            <a:r>
              <a:t>Nhật ký tải gói bundle của du khách.</a:t>
            </a:r>
          </a:p>
        </p:txBody>
      </p:sp>
      <p:sp>
        <p:nvSpPr>
          <p:cNvPr id="12" name="Rounded Rectangle 11"/>
          <p:cNvSpPr/>
          <p:nvPr/>
        </p:nvSpPr>
        <p:spPr>
          <a:xfrm>
            <a:off x="43891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755648"/>
            <a:ext cx="3108960" cy="365760"/>
          </a:xfrm>
          <a:prstGeom prst="rect">
            <a:avLst/>
          </a:prstGeom>
          <a:noFill/>
        </p:spPr>
        <p:txBody>
          <a:bodyPr wrap="square">
            <a:spAutoFit/>
          </a:bodyPr>
          <a:lstStyle/>
          <a:p>
            <a:pPr>
              <a:defRPr sz="1300" b="1">
                <a:solidFill>
                  <a:srgbClr val="1E3A8A"/>
                </a:solidFill>
                <a:latin typeface="Segoe UI"/>
              </a:defRPr>
            </a:pPr>
            <a:r>
              <a:t>Phân Hệ 2: Nội Dung &amp; Tour</a:t>
            </a:r>
          </a:p>
        </p:txBody>
      </p:sp>
      <p:sp>
        <p:nvSpPr>
          <p:cNvPr id="14" name="TextBox 13"/>
          <p:cNvSpPr txBox="1"/>
          <p:nvPr/>
        </p:nvSpPr>
        <p:spPr>
          <a:xfrm>
            <a:off x="4526280" y="2148840"/>
            <a:ext cx="3108960" cy="3840480"/>
          </a:xfrm>
          <a:prstGeom prst="rect">
            <a:avLst/>
          </a:prstGeom>
          <a:noFill/>
        </p:spPr>
        <p:txBody>
          <a:bodyPr wrap="square">
            <a:spAutoFit/>
          </a:bodyPr>
          <a:lstStyle/>
          <a:p>
            <a:pPr>
              <a:defRPr sz="1000" b="1">
                <a:solidFill>
                  <a:srgbClr val="1E3A8A"/>
                </a:solidFill>
              </a:defRPr>
            </a:pPr>
            <a:r>
              <a:t>LANGUAGES</a:t>
            </a:r>
          </a:p>
          <a:p>
            <a:pPr>
              <a:spcAft>
                <a:spcPts val="300"/>
              </a:spcAft>
              <a:defRPr sz="950">
                <a:solidFill>
                  <a:srgbClr val="0F172A"/>
                </a:solidFill>
              </a:defRPr>
            </a:pPr>
            <a:r>
              <a:t>Danh mục 15 ngôn ngữ hỗ trợ.</a:t>
            </a:r>
          </a:p>
          <a:p>
            <a:pPr>
              <a:defRPr sz="1000" b="1">
                <a:solidFill>
                  <a:srgbClr val="1E3A8A"/>
                </a:solidFill>
              </a:defRPr>
            </a:pPr>
            <a:r>
              <a:t>POIS</a:t>
            </a:r>
          </a:p>
          <a:p>
            <a:pPr>
              <a:spcAft>
                <a:spcPts val="300"/>
              </a:spcAft>
              <a:defRPr sz="950">
                <a:solidFill>
                  <a:srgbClr val="0F172A"/>
                </a:solidFill>
              </a:defRPr>
            </a:pPr>
            <a:r>
              <a:t>Điểm tham quan, tọa độ, bán kính.</a:t>
            </a:r>
          </a:p>
          <a:p>
            <a:pPr>
              <a:defRPr sz="1000" b="1">
                <a:solidFill>
                  <a:srgbClr val="1E3A8A"/>
                </a:solidFill>
              </a:defRPr>
            </a:pPr>
            <a:r>
              <a:t>POI_TRANSLATIONS</a:t>
            </a:r>
          </a:p>
          <a:p>
            <a:pPr>
              <a:spcAft>
                <a:spcPts val="300"/>
              </a:spcAft>
              <a:defRPr sz="950">
                <a:solidFill>
                  <a:srgbClr val="0F172A"/>
                </a:solidFill>
              </a:defRPr>
            </a:pPr>
            <a:r>
              <a:t>Bản dịch văn bản theo từng ngôn ngữ.</a:t>
            </a:r>
          </a:p>
          <a:p>
            <a:pPr>
              <a:defRPr sz="1000" b="1">
                <a:solidFill>
                  <a:srgbClr val="1E3A8A"/>
                </a:solidFill>
              </a:defRPr>
            </a:pPr>
            <a:r>
              <a:t>AUDIOS</a:t>
            </a:r>
          </a:p>
          <a:p>
            <a:pPr>
              <a:spcAft>
                <a:spcPts val="300"/>
              </a:spcAft>
              <a:defRPr sz="950">
                <a:solidFill>
                  <a:srgbClr val="0F172A"/>
                </a:solidFill>
              </a:defRPr>
            </a:pPr>
            <a:r>
              <a:t>Đường dẫn tệp âm thanh thuyết minh.</a:t>
            </a:r>
          </a:p>
          <a:p>
            <a:pPr>
              <a:defRPr sz="1000" b="1">
                <a:solidFill>
                  <a:srgbClr val="1E3A8A"/>
                </a:solidFill>
              </a:defRPr>
            </a:pPr>
            <a:r>
              <a:t>CONTENT_JOBS</a:t>
            </a:r>
          </a:p>
          <a:p>
            <a:pPr>
              <a:spcAft>
                <a:spcPts val="300"/>
              </a:spcAft>
              <a:defRPr sz="950">
                <a:solidFill>
                  <a:srgbClr val="0F172A"/>
                </a:solidFill>
              </a:defRPr>
            </a:pPr>
            <a:r>
              <a:t>Tác vụ dịch và tạo audio nền.</a:t>
            </a:r>
          </a:p>
          <a:p>
            <a:pPr>
              <a:defRPr sz="1000" b="1">
                <a:solidFill>
                  <a:srgbClr val="1E3A8A"/>
                </a:solidFill>
              </a:defRPr>
            </a:pPr>
            <a:r>
              <a:t>TOURS</a:t>
            </a:r>
          </a:p>
          <a:p>
            <a:pPr>
              <a:spcAft>
                <a:spcPts val="300"/>
              </a:spcAft>
              <a:defRPr sz="950">
                <a:solidFill>
                  <a:srgbClr val="0F172A"/>
                </a:solidFill>
              </a:defRPr>
            </a:pPr>
            <a:r>
              <a:t>Danh mục lộ trình tham quan mẫu.</a:t>
            </a:r>
          </a:p>
          <a:p>
            <a:pPr>
              <a:defRPr sz="1000" b="1">
                <a:solidFill>
                  <a:srgbClr val="1E3A8A"/>
                </a:solidFill>
              </a:defRPr>
            </a:pPr>
            <a:r>
              <a:t>TOUR_POIS</a:t>
            </a:r>
          </a:p>
          <a:p>
            <a:pPr>
              <a:spcAft>
                <a:spcPts val="300"/>
              </a:spcAft>
              <a:defRPr sz="950">
                <a:solidFill>
                  <a:srgbClr val="0F172A"/>
                </a:solidFill>
              </a:defRPr>
            </a:pPr>
            <a:r>
              <a:t>Thứ tự các điểm trong từng tour.</a:t>
            </a:r>
          </a:p>
        </p:txBody>
      </p:sp>
      <p:sp>
        <p:nvSpPr>
          <p:cNvPr id="15" name="Rounded Rectangle 14"/>
          <p:cNvSpPr/>
          <p:nvPr/>
        </p:nvSpPr>
        <p:spPr>
          <a:xfrm>
            <a:off x="8046720" y="1645920"/>
            <a:ext cx="33832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80" y="1755648"/>
            <a:ext cx="3108960" cy="365760"/>
          </a:xfrm>
          <a:prstGeom prst="rect">
            <a:avLst/>
          </a:prstGeom>
          <a:noFill/>
        </p:spPr>
        <p:txBody>
          <a:bodyPr wrap="square">
            <a:spAutoFit/>
          </a:bodyPr>
          <a:lstStyle/>
          <a:p>
            <a:pPr>
              <a:defRPr sz="1300" b="1">
                <a:solidFill>
                  <a:srgbClr val="1E3A8A"/>
                </a:solidFill>
                <a:latin typeface="Segoe UI"/>
              </a:defRPr>
            </a:pPr>
            <a:r>
              <a:t>Phân Hệ 3: Kho Tri Thức RAG</a:t>
            </a:r>
          </a:p>
        </p:txBody>
      </p:sp>
      <p:sp>
        <p:nvSpPr>
          <p:cNvPr id="17" name="TextBox 16"/>
          <p:cNvSpPr txBox="1"/>
          <p:nvPr/>
        </p:nvSpPr>
        <p:spPr>
          <a:xfrm>
            <a:off x="8183880" y="2148840"/>
            <a:ext cx="3108960" cy="3840480"/>
          </a:xfrm>
          <a:prstGeom prst="rect">
            <a:avLst/>
          </a:prstGeom>
          <a:noFill/>
        </p:spPr>
        <p:txBody>
          <a:bodyPr wrap="square">
            <a:spAutoFit/>
          </a:bodyPr>
          <a:lstStyle/>
          <a:p>
            <a:pPr>
              <a:defRPr sz="1000" b="1">
                <a:solidFill>
                  <a:srgbClr val="1E3A8A"/>
                </a:solidFill>
              </a:defRPr>
            </a:pPr>
            <a:r>
              <a:t>KNOWLEDGE_DOCUMENTS</a:t>
            </a:r>
          </a:p>
          <a:p>
            <a:pPr>
              <a:spcAft>
                <a:spcPts val="300"/>
              </a:spcAft>
              <a:defRPr sz="950">
                <a:solidFill>
                  <a:srgbClr val="0F172A"/>
                </a:solidFill>
              </a:defRPr>
            </a:pPr>
            <a:r>
              <a:t>Tài liệu văn hóa lịch sử gốc.</a:t>
            </a:r>
          </a:p>
          <a:p>
            <a:pPr>
              <a:defRPr sz="1000" b="1">
                <a:solidFill>
                  <a:srgbClr val="1E3A8A"/>
                </a:solidFill>
              </a:defRPr>
            </a:pPr>
            <a:r>
              <a:t>KNOWLEDGE_CHUNKS</a:t>
            </a:r>
          </a:p>
          <a:p>
            <a:pPr>
              <a:spcAft>
                <a:spcPts val="300"/>
              </a:spcAft>
              <a:defRPr sz="950">
                <a:solidFill>
                  <a:srgbClr val="0F172A"/>
                </a:solidFill>
              </a:defRPr>
            </a:pPr>
            <a:r>
              <a:t>Các đoạn văn bản đã phân tách.</a:t>
            </a:r>
          </a:p>
          <a:p>
            <a:pPr>
              <a:defRPr sz="1000" b="1">
                <a:solidFill>
                  <a:srgbClr val="1E3A8A"/>
                </a:solidFill>
              </a:defRPr>
            </a:pPr>
            <a:r>
              <a:t>CHAT_LOGS</a:t>
            </a:r>
          </a:p>
          <a:p>
            <a:pPr>
              <a:spcAft>
                <a:spcPts val="300"/>
              </a:spcAft>
              <a:defRPr sz="950">
                <a:solidFill>
                  <a:srgbClr val="0F172A"/>
                </a:solidFill>
              </a:defRPr>
            </a:pPr>
            <a:r>
              <a:t>Lịch sử câu hỏi và câu trả lời.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CHƯƠNG 4: THIẾT KẾ</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Quy Tắc Toàn Vẹn Dữ Liệu Và Giao Dịch</a:t>
            </a:r>
          </a:p>
          <a:p>
            <a:pPr>
              <a:defRPr sz="1200">
                <a:solidFill>
                  <a:srgbClr val="64748B"/>
                </a:solidFill>
                <a:latin typeface="Segoe UI"/>
              </a:defRPr>
            </a:pPr>
            <a:r>
              <a:t>Đảm bảo tính nhất quán nghiệp vụ và kiểm soát đồng thời tại máy chủ</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22 / 24</a:t>
            </a:r>
          </a:p>
        </p:txBody>
      </p:sp>
      <p:sp>
        <p:nvSpPr>
          <p:cNvPr id="9" name="Rounded Rectangle 8"/>
          <p:cNvSpPr/>
          <p:nvPr/>
        </p:nvSpPr>
        <p:spPr>
          <a:xfrm>
            <a:off x="731520" y="164592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Toàn Vẹn Giao Dịch Thanh Toán</a:t>
            </a:r>
          </a:p>
        </p:txBody>
      </p:sp>
      <p:sp>
        <p:nvSpPr>
          <p:cNvPr id="11" name="TextBox 10"/>
          <p:cNvSpPr txBox="1"/>
          <p:nvPr/>
        </p:nvSpPr>
        <p:spPr>
          <a:xfrm>
            <a:off x="868680" y="2057400"/>
            <a:ext cx="4937760" cy="868680"/>
          </a:xfrm>
          <a:prstGeom prst="rect">
            <a:avLst/>
          </a:prstGeom>
          <a:noFill/>
        </p:spPr>
        <p:txBody>
          <a:bodyPr wrap="square">
            <a:spAutoFit/>
          </a:bodyPr>
          <a:lstStyle/>
          <a:p>
            <a:pPr>
              <a:defRPr sz="1000">
                <a:solidFill>
                  <a:srgbClr val="0F172A"/>
                </a:solidFill>
              </a:defRPr>
            </a:pPr>
            <a:r>
              <a:t>Kích hoạt phiên tham quan và ghi nhận thanh toán bắt buộc thực hiện trong cùng một giao dịch cơ sở dữ liệu. Nhận webhook lặp tuyệt đối không cộng dồn doanh thu.</a:t>
            </a:r>
          </a:p>
        </p:txBody>
      </p:sp>
      <p:sp>
        <p:nvSpPr>
          <p:cNvPr id="12" name="Rounded Rectangle 11"/>
          <p:cNvSpPr/>
          <p:nvPr/>
        </p:nvSpPr>
        <p:spPr>
          <a:xfrm>
            <a:off x="6217920" y="164592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Toàn Vẹn Quyền Hạn Tham Quan</a:t>
            </a:r>
          </a:p>
        </p:txBody>
      </p:sp>
      <p:sp>
        <p:nvSpPr>
          <p:cNvPr id="14" name="TextBox 13"/>
          <p:cNvSpPr txBox="1"/>
          <p:nvPr/>
        </p:nvSpPr>
        <p:spPr>
          <a:xfrm>
            <a:off x="6355080" y="2057400"/>
            <a:ext cx="4937760" cy="868680"/>
          </a:xfrm>
          <a:prstGeom prst="rect">
            <a:avLst/>
          </a:prstGeom>
          <a:noFill/>
        </p:spPr>
        <p:txBody>
          <a:bodyPr wrap="square">
            <a:spAutoFit/>
          </a:bodyPr>
          <a:lstStyle/>
          <a:p>
            <a:pPr>
              <a:defRPr sz="1000">
                <a:solidFill>
                  <a:srgbClr val="0F172A"/>
                </a:solidFill>
              </a:defRPr>
            </a:pPr>
            <a:r>
              <a:t>Kiểm tra đồng thời trạng thái phiên, thời điểm hết hạn và giá trị băm token. Token hết hạn lập tức bị từ chối quyền truy cập API nội dung.</a:t>
            </a:r>
          </a:p>
        </p:txBody>
      </p:sp>
      <p:sp>
        <p:nvSpPr>
          <p:cNvPr id="15" name="Rounded Rectangle 14"/>
          <p:cNvSpPr/>
          <p:nvPr/>
        </p:nvSpPr>
        <p:spPr>
          <a:xfrm>
            <a:off x="731520" y="315468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3264408"/>
            <a:ext cx="4937760" cy="365760"/>
          </a:xfrm>
          <a:prstGeom prst="rect">
            <a:avLst/>
          </a:prstGeom>
          <a:noFill/>
        </p:spPr>
        <p:txBody>
          <a:bodyPr wrap="square">
            <a:spAutoFit/>
          </a:bodyPr>
          <a:lstStyle/>
          <a:p>
            <a:pPr>
              <a:defRPr sz="1300" b="1">
                <a:solidFill>
                  <a:srgbClr val="1E3A8A"/>
                </a:solidFill>
                <a:latin typeface="Segoe UI"/>
              </a:defRPr>
            </a:pPr>
            <a:r>
              <a:t>Độc Nhất Dữ Liệu Đa Ngôn Ngữ</a:t>
            </a:r>
          </a:p>
        </p:txBody>
      </p:sp>
      <p:sp>
        <p:nvSpPr>
          <p:cNvPr id="17" name="TextBox 16"/>
          <p:cNvSpPr txBox="1"/>
          <p:nvPr/>
        </p:nvSpPr>
        <p:spPr>
          <a:xfrm>
            <a:off x="868680" y="3566160"/>
            <a:ext cx="4937760" cy="868680"/>
          </a:xfrm>
          <a:prstGeom prst="rect">
            <a:avLst/>
          </a:prstGeom>
          <a:noFill/>
        </p:spPr>
        <p:txBody>
          <a:bodyPr wrap="square">
            <a:spAutoFit/>
          </a:bodyPr>
          <a:lstStyle/>
          <a:p>
            <a:pPr>
              <a:defRPr sz="1000">
                <a:solidFill>
                  <a:srgbClr val="0F172A"/>
                </a:solidFill>
              </a:defRPr>
            </a:pPr>
            <a:r>
              <a:t>Mỗi cặp POI và mã ngôn ngữ là duy nhất. Bộ ba POI, ngôn ngữ và phiên bản trong CONTENT_JOBS là duy nhất; tác vụ cũ không ghi đè dữ liệu mới.</a:t>
            </a:r>
          </a:p>
        </p:txBody>
      </p:sp>
      <p:sp>
        <p:nvSpPr>
          <p:cNvPr id="18" name="Rounded Rectangle 17"/>
          <p:cNvSpPr/>
          <p:nvPr/>
        </p:nvSpPr>
        <p:spPr>
          <a:xfrm>
            <a:off x="6217920" y="315468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3264408"/>
            <a:ext cx="4937760" cy="365760"/>
          </a:xfrm>
          <a:prstGeom prst="rect">
            <a:avLst/>
          </a:prstGeom>
          <a:noFill/>
        </p:spPr>
        <p:txBody>
          <a:bodyPr wrap="square">
            <a:spAutoFit/>
          </a:bodyPr>
          <a:lstStyle/>
          <a:p>
            <a:pPr>
              <a:defRPr sz="1300" b="1">
                <a:solidFill>
                  <a:srgbClr val="1E3A8A"/>
                </a:solidFill>
                <a:latin typeface="Segoe UI"/>
              </a:defRPr>
            </a:pPr>
            <a:r>
              <a:t>Toàn Vẹn Lộ Trình Tham Quan</a:t>
            </a:r>
          </a:p>
        </p:txBody>
      </p:sp>
      <p:sp>
        <p:nvSpPr>
          <p:cNvPr id="20" name="TextBox 19"/>
          <p:cNvSpPr txBox="1"/>
          <p:nvPr/>
        </p:nvSpPr>
        <p:spPr>
          <a:xfrm>
            <a:off x="6355080" y="3566160"/>
            <a:ext cx="4937760" cy="868680"/>
          </a:xfrm>
          <a:prstGeom prst="rect">
            <a:avLst/>
          </a:prstGeom>
          <a:noFill/>
        </p:spPr>
        <p:txBody>
          <a:bodyPr wrap="square">
            <a:spAutoFit/>
          </a:bodyPr>
          <a:lstStyle/>
          <a:p>
            <a:pPr>
              <a:defRPr sz="1000">
                <a:solidFill>
                  <a:srgbClr val="0F172A"/>
                </a:solidFill>
              </a:defRPr>
            </a:pPr>
            <a:r>
              <a:t>Một điểm tham quan không thể xuất hiện nhiều lần trong cùng một tour; thứ tự các điểm được cập nhật nguyên tử trong giao dịch.</a:t>
            </a:r>
          </a:p>
        </p:txBody>
      </p:sp>
      <p:sp>
        <p:nvSpPr>
          <p:cNvPr id="21" name="Rounded Rectangle 20"/>
          <p:cNvSpPr/>
          <p:nvPr/>
        </p:nvSpPr>
        <p:spPr>
          <a:xfrm>
            <a:off x="731520" y="466344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773168"/>
            <a:ext cx="4937760" cy="365760"/>
          </a:xfrm>
          <a:prstGeom prst="rect">
            <a:avLst/>
          </a:prstGeom>
          <a:noFill/>
        </p:spPr>
        <p:txBody>
          <a:bodyPr wrap="square">
            <a:spAutoFit/>
          </a:bodyPr>
          <a:lstStyle/>
          <a:p>
            <a:pPr>
              <a:defRPr sz="1300" b="1">
                <a:solidFill>
                  <a:srgbClr val="1E3A8A"/>
                </a:solidFill>
                <a:latin typeface="Segoe UI"/>
              </a:defRPr>
            </a:pPr>
            <a:r>
              <a:t>Bảo Vệ Dữ Liệu Lịch Sử</a:t>
            </a:r>
          </a:p>
        </p:txBody>
      </p:sp>
      <p:sp>
        <p:nvSpPr>
          <p:cNvPr id="23" name="TextBox 22"/>
          <p:cNvSpPr txBox="1"/>
          <p:nvPr/>
        </p:nvSpPr>
        <p:spPr>
          <a:xfrm>
            <a:off x="868680" y="5074920"/>
            <a:ext cx="4937760" cy="868680"/>
          </a:xfrm>
          <a:prstGeom prst="rect">
            <a:avLst/>
          </a:prstGeom>
          <a:noFill/>
        </p:spPr>
        <p:txBody>
          <a:bodyPr wrap="square">
            <a:spAutoFit/>
          </a:bodyPr>
          <a:lstStyle/>
          <a:p>
            <a:pPr>
              <a:defRPr sz="1000">
                <a:solidFill>
                  <a:srgbClr val="0F172A"/>
                </a:solidFill>
              </a:defRPr>
            </a:pPr>
            <a:r>
              <a:t>Các bảng thanh toán và phiên tham quan áp dụng ON DELETE RESTRICT để chống xóa nhầm dữ liệu đối soát; chỉ cho phép vô hiệu hóa bằng trạng thái.</a:t>
            </a:r>
          </a:p>
        </p:txBody>
      </p:sp>
      <p:sp>
        <p:nvSpPr>
          <p:cNvPr id="24" name="Rounded Rectangle 23"/>
          <p:cNvSpPr/>
          <p:nvPr/>
        </p:nvSpPr>
        <p:spPr>
          <a:xfrm>
            <a:off x="6217920" y="466344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4773168"/>
            <a:ext cx="4937760" cy="365760"/>
          </a:xfrm>
          <a:prstGeom prst="rect">
            <a:avLst/>
          </a:prstGeom>
          <a:noFill/>
        </p:spPr>
        <p:txBody>
          <a:bodyPr wrap="square">
            <a:spAutoFit/>
          </a:bodyPr>
          <a:lstStyle/>
          <a:p>
            <a:pPr>
              <a:defRPr sz="1300" b="1">
                <a:solidFill>
                  <a:srgbClr val="1E3A8A"/>
                </a:solidFill>
                <a:latin typeface="Segoe UI"/>
              </a:defRPr>
            </a:pPr>
            <a:r>
              <a:t>Kiểm Soát Thao Tác Đồng Thời</a:t>
            </a:r>
          </a:p>
        </p:txBody>
      </p:sp>
      <p:sp>
        <p:nvSpPr>
          <p:cNvPr id="26" name="TextBox 25"/>
          <p:cNvSpPr txBox="1"/>
          <p:nvPr/>
        </p:nvSpPr>
        <p:spPr>
          <a:xfrm>
            <a:off x="6355080" y="5074920"/>
            <a:ext cx="4937760" cy="868680"/>
          </a:xfrm>
          <a:prstGeom prst="rect">
            <a:avLst/>
          </a:prstGeom>
          <a:noFill/>
        </p:spPr>
        <p:txBody>
          <a:bodyPr wrap="square">
            <a:spAutoFit/>
          </a:bodyPr>
          <a:lstStyle/>
          <a:p>
            <a:pPr>
              <a:defRPr sz="1000">
                <a:solidFill>
                  <a:srgbClr val="0F172A"/>
                </a:solidFill>
              </a:defRPr>
            </a:pPr>
            <a:r>
              <a:t>Các thao tác xác nhận tiền mặt, nhận tác vụ nền hoặc đổi mã ngắn đều được kiểm tra trạng thái và cập nhật nguyên tử để tránh xử lý trùng lặp.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F2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20040"/>
            <a:ext cx="2377440" cy="3200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E3A8A"/>
                </a:solidFill>
                <a:latin typeface="Segoe UI"/>
              </a:defRPr>
            </a:pPr>
            <a:r>
              <a:t>TỔNG KẾT</a:t>
            </a:r>
          </a:p>
        </p:txBody>
      </p:sp>
      <p:sp>
        <p:nvSpPr>
          <p:cNvPr id="5" name="TextBox 4"/>
          <p:cNvSpPr txBox="1"/>
          <p:nvPr/>
        </p:nvSpPr>
        <p:spPr>
          <a:xfrm>
            <a:off x="731520" y="685800"/>
            <a:ext cx="10728655" cy="548640"/>
          </a:xfrm>
          <a:prstGeom prst="rect">
            <a:avLst/>
          </a:prstGeom>
          <a:noFill/>
        </p:spPr>
        <p:txBody>
          <a:bodyPr wrap="square">
            <a:spAutoFit/>
          </a:bodyPr>
          <a:lstStyle/>
          <a:p>
            <a:pPr>
              <a:defRPr sz="2200" b="1">
                <a:solidFill>
                  <a:srgbClr val="0F172A"/>
                </a:solidFill>
                <a:latin typeface="Segoe UI"/>
              </a:defRPr>
            </a:pPr>
            <a:r>
              <a:t>Hiện Trạng Đồ Án Và Kế Hoạch Triển Khai Tiếp Theo</a:t>
            </a:r>
          </a:p>
          <a:p>
            <a:pPr>
              <a:defRPr sz="1200">
                <a:solidFill>
                  <a:srgbClr val="64748B"/>
                </a:solidFill>
                <a:latin typeface="Segoe UI"/>
              </a:defRPr>
            </a:pPr>
            <a:r>
              <a:t>Báo cáo trung thực tiến độ đạt được và lộ trình hiện thực hóa các chương tiếp theo</a:t>
            </a:r>
          </a:p>
        </p:txBody>
      </p:sp>
      <p:sp>
        <p:nvSpPr>
          <p:cNvPr id="6" name="Rectangle 5"/>
          <p:cNvSpPr/>
          <p:nvPr/>
        </p:nvSpPr>
        <p:spPr>
          <a:xfrm>
            <a:off x="731520" y="6400800"/>
            <a:ext cx="1072865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46520"/>
            <a:ext cx="8229600" cy="320040"/>
          </a:xfrm>
          <a:prstGeom prst="rect">
            <a:avLst/>
          </a:prstGeom>
          <a:noFill/>
        </p:spPr>
        <p:txBody>
          <a:bodyPr wrap="none">
            <a:spAutoFit/>
          </a:bodyPr>
          <a:lstStyle/>
          <a:p>
            <a:pPr>
              <a:defRPr sz="950">
                <a:solidFill>
                  <a:srgbClr val="64748B"/>
                </a:solidFill>
                <a:latin typeface="Segoe UI"/>
              </a:defRPr>
            </a:pPr>
            <a:r>
              <a:t>Đồ án Công nghệ phần mềm — Hệ thống tự động thuyết minh đa ngôn ngữ Chùa Linh Ứng</a:t>
            </a:r>
          </a:p>
        </p:txBody>
      </p:sp>
      <p:sp>
        <p:nvSpPr>
          <p:cNvPr id="8" name="TextBox 7"/>
          <p:cNvSpPr txBox="1"/>
          <p:nvPr/>
        </p:nvSpPr>
        <p:spPr>
          <a:xfrm>
            <a:off x="9601200" y="6446520"/>
            <a:ext cx="1828800" cy="320040"/>
          </a:xfrm>
          <a:prstGeom prst="rect">
            <a:avLst/>
          </a:prstGeom>
          <a:noFill/>
        </p:spPr>
        <p:txBody>
          <a:bodyPr wrap="none">
            <a:spAutoFit/>
          </a:bodyPr>
          <a:lstStyle/>
          <a:p>
            <a:pPr algn="r">
              <a:defRPr sz="950" b="1">
                <a:solidFill>
                  <a:srgbClr val="1E3A8A"/>
                </a:solidFill>
                <a:latin typeface="Segoe UI"/>
              </a:defRPr>
            </a:pPr>
            <a:r>
              <a:t>23 / 24</a:t>
            </a:r>
          </a:p>
        </p:txBody>
      </p:sp>
      <p:sp>
        <p:nvSpPr>
          <p:cNvPr id="9" name="Rounded Rectangle 8"/>
          <p:cNvSpPr/>
          <p:nvPr/>
        </p:nvSpPr>
        <p:spPr>
          <a:xfrm>
            <a:off x="7315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55648"/>
            <a:ext cx="4937760" cy="365760"/>
          </a:xfrm>
          <a:prstGeom prst="rect">
            <a:avLst/>
          </a:prstGeom>
          <a:noFill/>
        </p:spPr>
        <p:txBody>
          <a:bodyPr wrap="square">
            <a:spAutoFit/>
          </a:bodyPr>
          <a:lstStyle/>
          <a:p>
            <a:pPr>
              <a:defRPr sz="1300" b="1">
                <a:solidFill>
                  <a:srgbClr val="1E3A8A"/>
                </a:solidFill>
                <a:latin typeface="Segoe UI"/>
              </a:defRPr>
            </a:pPr>
            <a:r>
              <a:t>Nội Dung Đã Hoàn Thành Chuẩn Chỉnh</a:t>
            </a:r>
          </a:p>
        </p:txBody>
      </p:sp>
      <p:sp>
        <p:nvSpPr>
          <p:cNvPr id="11" name="TextBox 10"/>
          <p:cNvSpPr txBox="1"/>
          <p:nvPr/>
        </p:nvSpPr>
        <p:spPr>
          <a:xfrm>
            <a:off x="914400" y="2194560"/>
            <a:ext cx="4846320" cy="3749039"/>
          </a:xfrm>
          <a:prstGeom prst="rect">
            <a:avLst/>
          </a:prstGeom>
          <a:noFill/>
        </p:spPr>
        <p:txBody>
          <a:bodyPr wrap="square">
            <a:spAutoFit/>
          </a:bodyPr>
          <a:lstStyle/>
          <a:p>
            <a:pPr>
              <a:spcAft>
                <a:spcPts val="600"/>
              </a:spcAft>
              <a:defRPr sz="1000">
                <a:solidFill>
                  <a:srgbClr val="166534"/>
                </a:solidFill>
              </a:defRPr>
            </a:pPr>
            <a:r>
              <a:t>✔  Hoàn thiện 100% hồ sơ Chương 1: Bối cảnh nghiệp vụ Chùa Linh Ứng, mục tiêu, yêu cầu BR-01..BR-09, phạm vi và ràng buộc kỹ thuật.</a:t>
            </a:r>
          </a:p>
          <a:p>
            <a:pPr>
              <a:spcAft>
                <a:spcPts val="600"/>
              </a:spcAft>
              <a:defRPr sz="1000">
                <a:solidFill>
                  <a:srgbClr val="166534"/>
                </a:solidFill>
              </a:defRPr>
            </a:pPr>
            <a:r>
              <a:t>✔  Hoàn thiện 100% hồ sơ Chương 2 (PRD): User Stories chi tiết kèm tiêu chuẩn AC, quy tắc nghiệp vụ, yêu cầu phi chức năng và ma trận nghiệm thu.</a:t>
            </a:r>
          </a:p>
          <a:p>
            <a:pPr>
              <a:spcAft>
                <a:spcPts val="600"/>
              </a:spcAft>
              <a:defRPr sz="1000">
                <a:solidFill>
                  <a:srgbClr val="166534"/>
                </a:solidFill>
              </a:defRPr>
            </a:pPr>
            <a:r>
              <a:t>✔  Hoàn thiện 100% hồ sơ Chương 3 (Phân tích): Mô hình hóa 18 Use Cases chuẩn mực, đặc tả chi tiết luồng chính/phụ và ma trận truy vết.</a:t>
            </a:r>
          </a:p>
          <a:p>
            <a:pPr>
              <a:spcAft>
                <a:spcPts val="600"/>
              </a:spcAft>
              <a:defRPr sz="1000">
                <a:solidFill>
                  <a:srgbClr val="166534"/>
                </a:solidFill>
              </a:defRPr>
            </a:pPr>
            <a:r>
              <a:t>✔  Hoàn thiện phần lớn Chương 4 (Thiết kế): Kiến trúc 3 lớp Router-Service-Store, thiết kế component và cơ sở dữ liệu 16 bảng chi tiết.</a:t>
            </a:r>
          </a:p>
          <a:p>
            <a:pPr>
              <a:spcAft>
                <a:spcPts val="600"/>
              </a:spcAft>
              <a:defRPr sz="1000">
                <a:solidFill>
                  <a:srgbClr val="166534"/>
                </a:solidFill>
              </a:defRPr>
            </a:pPr>
            <a:r>
              <a:t>✔  Mã nguồn hiện tại: Đã xây dựng hoàn chỉnh nền tảng xác thực nội bộ (USERS, REFRESH_TOKENS, AUDIT_LOGS), middleware bảo mật, kiểm thử và Docker CI.</a:t>
            </a:r>
          </a:p>
        </p:txBody>
      </p:sp>
      <p:sp>
        <p:nvSpPr>
          <p:cNvPr id="12" name="Rounded Rectangle 11"/>
          <p:cNvSpPr/>
          <p:nvPr/>
        </p:nvSpPr>
        <p:spPr>
          <a:xfrm>
            <a:off x="6217920" y="1645920"/>
            <a:ext cx="52120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55648"/>
            <a:ext cx="4937760" cy="365760"/>
          </a:xfrm>
          <a:prstGeom prst="rect">
            <a:avLst/>
          </a:prstGeom>
          <a:noFill/>
        </p:spPr>
        <p:txBody>
          <a:bodyPr wrap="square">
            <a:spAutoFit/>
          </a:bodyPr>
          <a:lstStyle/>
          <a:p>
            <a:pPr>
              <a:defRPr sz="1300" b="1">
                <a:solidFill>
                  <a:srgbClr val="1E3A8A"/>
                </a:solidFill>
                <a:latin typeface="Segoe UI"/>
              </a:defRPr>
            </a:pPr>
            <a:r>
              <a:t>Kế Hoạch Triển Khai Giai Đoạn Tiếp Theo</a:t>
            </a:r>
          </a:p>
        </p:txBody>
      </p:sp>
      <p:sp>
        <p:nvSpPr>
          <p:cNvPr id="14" name="TextBox 13"/>
          <p:cNvSpPr txBox="1"/>
          <p:nvPr/>
        </p:nvSpPr>
        <p:spPr>
          <a:xfrm>
            <a:off x="6400800" y="2194560"/>
            <a:ext cx="4846320" cy="3749039"/>
          </a:xfrm>
          <a:prstGeom prst="rect">
            <a:avLst/>
          </a:prstGeom>
          <a:noFill/>
        </p:spPr>
        <p:txBody>
          <a:bodyPr wrap="square">
            <a:spAutoFit/>
          </a:bodyPr>
          <a:lstStyle/>
          <a:p>
            <a:pPr>
              <a:spcAft>
                <a:spcPts val="600"/>
              </a:spcAft>
              <a:defRPr sz="1000">
                <a:solidFill>
                  <a:srgbClr val="1E3A8A"/>
                </a:solidFill>
              </a:defRPr>
            </a:pPr>
            <a:r>
              <a:t>➔  Xây dựng hệ thống (Chương 5): Thực hiện migration cơ sở dữ liệu cho 13 bảng nghiệp vụ tham quan mới; hiện thực các Service thanh toán, bundle, audio và RAG.</a:t>
            </a:r>
          </a:p>
          <a:p>
            <a:pPr>
              <a:spcAft>
                <a:spcPts val="600"/>
              </a:spcAft>
              <a:defRPr sz="1000">
                <a:solidFill>
                  <a:srgbClr val="1E3A8A"/>
                </a:solidFill>
              </a:defRPr>
            </a:pPr>
            <a:r>
              <a:t>➔  Thiết kế giao diện: Xây dựng trang web demo Leaflet tại /demo và giao diện quản trị, giám sát vận hành.</a:t>
            </a:r>
          </a:p>
          <a:p>
            <a:pPr>
              <a:spcAft>
                <a:spcPts val="600"/>
              </a:spcAft>
              <a:defRPr sz="1000">
                <a:solidFill>
                  <a:srgbClr val="1E3A8A"/>
                </a:solidFill>
              </a:defRPr>
            </a:pPr>
            <a:r>
              <a:t>➔  Kiểm thử &amp; Đánh giá (Chương 6): Viết bộ kiểm thử đơn vị và tích hợp cho luồng đổi mã, tự phát GPS và truy xuất RAG; đo lường tỷ lệ bao phủ mã nguồn.</a:t>
            </a:r>
          </a:p>
          <a:p>
            <a:pPr>
              <a:spcAft>
                <a:spcPts val="600"/>
              </a:spcAft>
              <a:defRPr sz="1000">
                <a:solidFill>
                  <a:srgbClr val="1E3A8A"/>
                </a:solidFill>
              </a:defRPr>
            </a:pPr>
            <a:r>
              <a:t>➔  Triển khai &amp; Vận hành (Chương 7): Hoàn thiện quy trình CD, kịch bản sao lưu phục hồi dữ liệu và hướng dẫn chạy demo trên môi trường thực nghiệm.</a:t>
            </a:r>
          </a:p>
          <a:p>
            <a:pPr>
              <a:spcAft>
                <a:spcPts val="600"/>
              </a:spcAft>
              <a:defRPr sz="1000">
                <a:solidFill>
                  <a:srgbClr val="1E3A8A"/>
                </a:solidFill>
              </a:defRPr>
            </a:pPr>
            <a:r>
              <a:t>➔  Kết luận &amp; Đánh giá (Chương 8): Tổng kết mức độ đáp ứng yêu cầu so với PRD ban đầu và đề xuất hướng phát triển mở rộng.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7032</Words>
  <Application>Microsoft Office PowerPoint</Application>
  <PresentationFormat>Widescreen</PresentationFormat>
  <Paragraphs>472</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Phat Duong</cp:lastModifiedBy>
  <cp:revision>2</cp:revision>
  <dcterms:created xsi:type="dcterms:W3CDTF">2013-01-27T09:14:16Z</dcterms:created>
  <dcterms:modified xsi:type="dcterms:W3CDTF">2026-10-19T06:22:53Z</dcterms:modified>
  <cp:category/>
</cp:coreProperties>
</file>